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5F7FA"/>
                </a:solidFill>
                <a:latin typeface="Arial"/>
              </a:defRPr>
            </a:pPr>
            <a:r>
              <a:t>Фабрика гипотез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B2C4"/>
                </a:solidFill>
                <a:latin typeface="Arial"/>
              </a:defRPr>
            </a:pPr>
            <a:r>
              <a:t>Гибридная агентная система</a:t>
            </a:r>
            <a:br/>
            <a:r>
              <a:t>для генерации, обоснования и приоритизации гипотез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834640"/>
            <a:ext cx="1417320" cy="41148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5F7FA"/>
                </a:solidFill>
                <a:latin typeface="Arial"/>
              </a:defRPr>
            </a:pPr>
            <a:r>
              <a:t>GraphRAG</a:t>
            </a:r>
          </a:p>
        </p:txBody>
      </p:sp>
      <p:sp>
        <p:nvSpPr>
          <p:cNvPr id="5" name="Rectangle 4"/>
          <p:cNvSpPr/>
          <p:nvPr/>
        </p:nvSpPr>
        <p:spPr>
          <a:xfrm>
            <a:off x="2377440" y="2834640"/>
            <a:ext cx="1417320" cy="41148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5F7FA"/>
                </a:solidFill>
                <a:latin typeface="Arial"/>
              </a:defRPr>
            </a:pPr>
            <a:r>
              <a:t>Long-Context 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2834640"/>
            <a:ext cx="1417320" cy="41148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5F7FA"/>
                </a:solidFill>
                <a:latin typeface="Arial"/>
              </a:defRPr>
            </a:pPr>
            <a:r>
              <a:t>Counterfactual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720" y="2834640"/>
            <a:ext cx="1417320" cy="41148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5F7FA"/>
                </a:solidFill>
                <a:latin typeface="Arial"/>
              </a:defRPr>
            </a:pPr>
            <a:r>
              <a:t>Predictive KPI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2834640"/>
            <a:ext cx="1417320" cy="41148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5F7FA"/>
                </a:solidFill>
                <a:latin typeface="Arial"/>
              </a:defRPr>
            </a:pPr>
            <a:r>
              <a:t>Neo4j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0" y="2834640"/>
            <a:ext cx="1417320" cy="41148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5F7FA"/>
                </a:solidFill>
                <a:latin typeface="Arial"/>
              </a:defRPr>
            </a:pPr>
            <a:r>
              <a:t>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4652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Норникель AI Hackathon · Фабрика гипотез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6446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5F7FA"/>
                </a:solidFill>
                <a:latin typeface="Arial"/>
              </a:defRPr>
            </a:pPr>
            <a:r>
              <a:t>Проблема кейса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AAB2C4"/>
                </a:solidFill>
                <a:latin typeface="Arial"/>
              </a:defRPr>
            </a:pPr>
            <a:r>
              <a:t>На старте НИОКР идеи часто формируются вручную и плохо связаны с историческими данными.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6152" y="1673352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Субъективность и зависимость от отдельных экспертов.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50008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6152" y="2331720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Низкая связность гипотез с бизнес-эффектом и KPI.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08376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990088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Неиспользуемые архивы отчетов, экспериментов, патентов и таблиц.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66744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3648456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Нет единого формата оценки новизны, рисков, ресурсов и ожидаемой ценности.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325112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6152" y="4306824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Долгий старт исследовательских проектов.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4652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Hypothesis Factory · GraphRAG + LLM + calculators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6446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5F7FA"/>
                </a:solidFill>
                <a:latin typeface="Arial"/>
              </a:defRPr>
            </a:pPr>
            <a:r>
              <a:t>Идея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AAB2C4"/>
                </a:solidFill>
                <a:latin typeface="Arial"/>
              </a:defRPr>
            </a:pPr>
            <a:r>
              <a:t>Инструмент превращает разнородную базу знаний в ранжированный список проверяемых гипотез.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6152" y="1673352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Принимает цель/KPI, ограничения, сырье, оборудование и веса ранжирования.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50008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6152" y="2331720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Загружает PDF/DOCX/Excel/CSV/текст/изображения и извлекает метаданные.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08376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990088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Строит GraphRAG-граф материалов, процессов, свойств, параметров и источников.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66744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3648456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Генерирует гипотезы с механизмом влияния, источниками и планом проверки.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325112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6152" y="4306824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Экспортирует результат в PDF/DOCX/JSON/CSV/API и задачи Jira/YouTrack.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4652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Hypothesis Factory · GraphRAG + LLM + calculators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6446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5F7FA"/>
                </a:solidFill>
                <a:latin typeface="Arial"/>
              </a:defRPr>
            </a:pPr>
            <a:r>
              <a:t>Архитектура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AAB2C4"/>
                </a:solidFill>
                <a:latin typeface="Arial"/>
              </a:defRPr>
            </a:pPr>
            <a:r>
              <a:t>Гибридный агентный пайплайн с трассировкой каждого шага.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240280"/>
            <a:ext cx="1645920" cy="1051560"/>
          </a:xfrm>
          <a:prstGeom prst="rect">
            <a:avLst/>
          </a:prstGeom>
          <a:solidFill>
            <a:srgbClr val="191F2D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" y="2386584"/>
            <a:ext cx="14264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8A6FF"/>
                </a:solidFill>
                <a:latin typeface="Arial"/>
              </a:defRPr>
            </a:pPr>
            <a:r>
              <a:t>Ingestion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743200"/>
            <a:ext cx="14264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AB2C4"/>
                </a:solidFill>
                <a:latin typeface="Arial"/>
              </a:defRPr>
            </a:pPr>
            <a:r>
              <a:t>OCR + metadata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30552" y="269748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AAB2C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404872" y="2240280"/>
            <a:ext cx="1645920" cy="1051560"/>
          </a:xfrm>
          <a:prstGeom prst="rect">
            <a:avLst/>
          </a:prstGeom>
          <a:solidFill>
            <a:srgbClr val="191F2D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4600" y="2386584"/>
            <a:ext cx="14264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8A6FF"/>
                </a:solidFill>
                <a:latin typeface="Arial"/>
              </a:defRPr>
            </a:pPr>
            <a:r>
              <a:t>Retrieval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743200"/>
            <a:ext cx="14264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AB2C4"/>
                </a:solidFill>
                <a:latin typeface="Arial"/>
              </a:defRPr>
            </a:pPr>
            <a:r>
              <a:t>Hashing RAG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2504" y="269748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AAB2C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6824" y="2240280"/>
            <a:ext cx="1645920" cy="1051560"/>
          </a:xfrm>
          <a:prstGeom prst="rect">
            <a:avLst/>
          </a:prstGeom>
          <a:solidFill>
            <a:srgbClr val="191F2D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6552" y="2386584"/>
            <a:ext cx="14264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8A6FF"/>
                </a:solidFill>
                <a:latin typeface="Arial"/>
              </a:defRPr>
            </a:pPr>
            <a:r>
              <a:t>GraphRAG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552" y="2743200"/>
            <a:ext cx="14264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AB2C4"/>
                </a:solidFill>
                <a:latin typeface="Arial"/>
              </a:defRPr>
            </a:pPr>
            <a:r>
              <a:t>entities + paths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34456" y="269748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AAB2C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8776" y="2240280"/>
            <a:ext cx="1645920" cy="105156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2386584"/>
            <a:ext cx="14264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525C"/>
                </a:solidFill>
                <a:latin typeface="Arial"/>
              </a:defRPr>
            </a:pPr>
            <a:r>
              <a:t>Hypotheses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743200"/>
            <a:ext cx="14264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AB2C4"/>
                </a:solidFill>
                <a:latin typeface="Arial"/>
              </a:defRPr>
            </a:pPr>
            <a:r>
              <a:t>candidate generation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36408" y="269748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AAB2C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0728" y="2240280"/>
            <a:ext cx="1645920" cy="105156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0456" y="2386584"/>
            <a:ext cx="14264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525C"/>
                </a:solidFill>
                <a:latin typeface="Arial"/>
              </a:defRPr>
            </a:pPr>
            <a:r>
              <a:t>Checks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2743200"/>
            <a:ext cx="14264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AB2C4"/>
                </a:solidFill>
                <a:latin typeface="Arial"/>
              </a:defRPr>
            </a:pPr>
            <a:r>
              <a:t>counterfactual + KPI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8360" y="269748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AAB2C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12680" y="2240280"/>
            <a:ext cx="1645920" cy="105156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22408" y="2386584"/>
            <a:ext cx="142646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525C"/>
                </a:solidFill>
                <a:latin typeface="Arial"/>
              </a:defRPr>
            </a:pPr>
            <a:r>
              <a:t>Outputs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22408" y="2743200"/>
            <a:ext cx="14264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AB2C4"/>
                </a:solidFill>
                <a:latin typeface="Arial"/>
              </a:defRPr>
            </a:pPr>
            <a:r>
              <a:t>reports + API + tasks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4846320"/>
            <a:ext cx="10332720" cy="68580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001768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97"/>
                </a:solidFill>
                <a:latin typeface="Arial"/>
              </a:defRPr>
            </a:pPr>
            <a:r>
              <a:t>Neo4j хранит граф, YandexGPT получает long-context, Jira/YouTrack получают проверяемые задачи.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44652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Hypothesis Factory · GraphRAG + LLM + calculators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6446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5F7FA"/>
                </a:solidFill>
                <a:latin typeface="Arial"/>
              </a:defRPr>
            </a:pPr>
            <a:r>
              <a:t>Данные и предобработка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AAB2C4"/>
                </a:solidFill>
                <a:latin typeface="Arial"/>
              </a:defRPr>
            </a:pPr>
            <a:r>
              <a:t>Система рассчитана на неполные, шумные и мультиязычные источники.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6152" y="1673352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Форматы: txt, md, pdf, docx, csv, xlsx, png, jpg, jpeg, webp.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50008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6152" y="2331720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OCR: русский, английский, китайский; есть timeout и fallback для демо.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08376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990088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Метаданные: даты, авторы, pH, температура, проценты, крупность частиц.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66744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3648456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Нормализация терминов: tailings/flotation/尾矿/浮选 -&gt; русская онтология.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325112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6152" y="4306824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HashingVectorizer устойчив к пустым словарям и шумным документам.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4652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Hypothesis Factory · GraphRAG + LLM + calculators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6446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5F7FA"/>
                </a:solidFill>
                <a:latin typeface="Arial"/>
              </a:defRPr>
            </a:pPr>
            <a:r>
              <a:t>Генерация и проверка гипотез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AAB2C4"/>
                </a:solidFill>
                <a:latin typeface="Arial"/>
              </a:defRPr>
            </a:pPr>
            <a:r>
              <a:t>Пайплайн не просто пишет текст, а оставляет проверяемый след рассуждения.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6152" y="1673352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HypothesisAgent формирует кандидатов из факторов, процессов и целевых свойств.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50008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6152" y="2331720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CounterfactualAgent сравнивает baseline, сценарий без фактора и альтернативный процесс.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08376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990088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PredictiveKPIAgent использует RandomForest surrogate для оценки normalized KPI uplift.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66744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3648456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CalculatorAgent проверяет оборудование, стоимость, KPI-эффект, баланс процесса и термоокно.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325112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6152" y="4306824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NoveltyAgent делает preliminary screening по Crossref, Semantic Scholar и PatentsView.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4652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Hypothesis Factory · GraphRAG + LLM + calculators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6446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5F7FA"/>
                </a:solidFill>
                <a:latin typeface="Arial"/>
              </a:defRPr>
            </a:pPr>
            <a:r>
              <a:t>Объяснимость и ранжирование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AAB2C4"/>
                </a:solidFill>
                <a:latin typeface="Arial"/>
              </a:defRPr>
            </a:pPr>
            <a:r>
              <a:t>Каждая гипотеза получает прозрачное обоснование для эксперта.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6152" y="1673352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Score: novelty, feasibility, expected value, risk, confidence.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50008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6152" y="2331720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Карточка: формулировка, механизм, источники, цитаты, риски, ресурсы, план эксперимента.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08376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990088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GraphRAG показывает связанные узлы и объяснимые пути в графе.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66744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3648456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Feedback learning: экспертные оценки обучают ML-реранкер для следующих запусков.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325112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6152" y="4306824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Long-context пакет передается в YandexGPT как экспертный слой, не заменяя базовый scoring.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4652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Hypothesis Factory · GraphRAG + LLM + calculators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6446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5F7FA"/>
                </a:solidFill>
                <a:latin typeface="Arial"/>
              </a:defRPr>
            </a:pPr>
            <a:r>
              <a:t>Интеграции и развертывание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AAB2C4"/>
                </a:solidFill>
                <a:latin typeface="Arial"/>
              </a:defRPr>
            </a:pPr>
            <a:r>
              <a:t>Решение готово к встраиванию в исследовательский процесс.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6152" y="1673352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Публичный UI: https://hackaton.baxic.ru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50008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6152" y="2331720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API + Swagger: https://hypothesisapi.baxic.ru/docs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08376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990088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Docker Compose: Streamlit, FastAPI, Neo4j.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66744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3648456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Graph storage: JSON, GraphML, RDF/Turtle, Neo4j sync/query.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325112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6152" y="4306824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Jira/YouTrack: создание задач из гипотез; role-based token auth для UI/API.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4652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Hypothesis Factory · GraphRAG + LLM + calculators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6446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5F7FA"/>
                </a:solidFill>
                <a:latin typeface="Arial"/>
              </a:defRPr>
            </a:pPr>
            <a:r>
              <a:t>Покрытие требований кейса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AAB2C4"/>
                </a:solidFill>
                <a:latin typeface="Arial"/>
              </a:defRPr>
            </a:pPr>
            <a:r>
              <a:t>Ключевые требования закрыты на уровне хакатонного MVP.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691640"/>
            <a:ext cx="4800600" cy="91440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7" y="1837944"/>
            <a:ext cx="45811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DDC97"/>
                </a:solidFill>
                <a:latin typeface="Arial"/>
              </a:defRPr>
            </a:pPr>
            <a:r>
              <a:t>Полезность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7" y="2194560"/>
            <a:ext cx="4581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AB2C4"/>
                </a:solidFill>
                <a:latin typeface="Arial"/>
              </a:defRPr>
            </a:pPr>
            <a:r>
              <a:t>проверяемые гипотезы + план эксперимента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691640"/>
            <a:ext cx="4800600" cy="91440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64808" y="1837944"/>
            <a:ext cx="45811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DDC97"/>
                </a:solidFill>
                <a:latin typeface="Arial"/>
              </a:defRPr>
            </a:pPr>
            <a:r>
              <a:t>Прозрачность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64808" y="2194560"/>
            <a:ext cx="4581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AB2C4"/>
                </a:solidFill>
                <a:latin typeface="Arial"/>
              </a:defRPr>
            </a:pPr>
            <a:r>
              <a:t>источники + GraphRAG + расчеты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017520"/>
            <a:ext cx="4800600" cy="91440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7" y="3163824"/>
            <a:ext cx="45811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DDC97"/>
                </a:solidFill>
                <a:latin typeface="Arial"/>
              </a:defRPr>
            </a:pPr>
            <a:r>
              <a:t>Гибкость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7" y="3520439"/>
            <a:ext cx="4581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AB2C4"/>
                </a:solidFill>
                <a:latin typeface="Arial"/>
              </a:defRPr>
            </a:pPr>
            <a:r>
              <a:t>разные форматы + OCR + metadata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3017520"/>
            <a:ext cx="4800600" cy="91440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4808" y="3163824"/>
            <a:ext cx="45811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DDC97"/>
                </a:solidFill>
                <a:latin typeface="Arial"/>
              </a:defRPr>
            </a:pPr>
            <a:r>
              <a:t>Масштабируемость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3520439"/>
            <a:ext cx="4581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AB2C4"/>
                </a:solidFill>
                <a:latin typeface="Arial"/>
              </a:defRPr>
            </a:pPr>
            <a:r>
              <a:t>модули + Neo4j/RDF/GraphML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343400"/>
            <a:ext cx="4800600" cy="91440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7" y="4489704"/>
            <a:ext cx="45811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DDC97"/>
                </a:solidFill>
                <a:latin typeface="Arial"/>
              </a:defRPr>
            </a:pPr>
            <a:r>
              <a:t>Интеграция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7" y="4846320"/>
            <a:ext cx="4581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AB2C4"/>
                </a:solidFill>
                <a:latin typeface="Arial"/>
              </a:defRPr>
            </a:pPr>
            <a:r>
              <a:t>PDF/DOCX/API/Jira/YouTrack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4343400"/>
            <a:ext cx="4800600" cy="91440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4808" y="4489704"/>
            <a:ext cx="45811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DDC97"/>
                </a:solidFill>
                <a:latin typeface="Arial"/>
              </a:defRPr>
            </a:pPr>
            <a:r>
              <a:t>Безопасность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8" y="4846320"/>
            <a:ext cx="4581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AB2C4"/>
                </a:solidFill>
                <a:latin typeface="Arial"/>
              </a:defRPr>
            </a:pPr>
            <a:r>
              <a:t>Docker + tokens + роли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44652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Hypothesis Factory · GraphRAG + LLM + calculators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6446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5F7FA"/>
                </a:solidFill>
                <a:latin typeface="Arial"/>
              </a:defRPr>
            </a:pPr>
            <a:r>
              <a:t>Демо за 5 минут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AAB2C4"/>
                </a:solidFill>
                <a:latin typeface="Arial"/>
              </a:defRPr>
            </a:pPr>
            <a:r>
              <a:t>Рекомендуемый сценарий показа жюри.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6152" y="1673352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Открыть UI, войти по demo-token и загрузить документы/таблицы/изображения.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50008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6152" y="2331720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Запустить генерацию и показать трассировку агентов.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08376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990088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Открыть карточку топ-гипотезы: механизм, источники, расчеты, counterfactual, план проверки.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66744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3648456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Показать граф связей, экспорт PDF/DOCX/JSON и сохранение feedback.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325112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6152" y="4306824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Открыть Swagger API, выполнить POST /api/generate с X-API-Key.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4652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Hypothesis Factory · GraphRAG + LLM + calculators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6446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5F7FA"/>
                </a:solidFill>
                <a:latin typeface="Arial"/>
              </a:defRPr>
            </a:pPr>
            <a:r>
              <a:t>Почему это сильное 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3268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AAB2C4"/>
                </a:solidFill>
                <a:latin typeface="Arial"/>
              </a:defRPr>
            </a:pPr>
            <a:r>
              <a:t>Формулировка для защиты.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6152" y="1673352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Это не RAG-чат, а end-to-end research workflow.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50008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6152" y="2331720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Покрывает путь: данные -&gt; GraphRAG -&gt; гипотезы -&gt; проверки -&gt; feedback -&gt; отчеты/API/tasks.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08376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990088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Работает локально и безопасно для конфиденциальных данных.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66744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3648456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Модульная архитектура расширяется на новые предметные области.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325112"/>
            <a:ext cx="228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525C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6152" y="4306824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7FA"/>
                </a:solidFill>
                <a:latin typeface="Arial"/>
              </a:defRPr>
            </a:pPr>
            <a:r>
              <a:t>Готово для MVP-использования и промышленного развития.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486400"/>
            <a:ext cx="10469880" cy="59436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641848"/>
            <a:ext cx="10012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97"/>
                </a:solidFill>
                <a:latin typeface="Arial"/>
              </a:defRPr>
            </a:pPr>
            <a:r>
              <a:t>GraphRAG + Long-Context LLM + Counterfactual + Predictive KPI + Novelty + Feedback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4652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Hypothesis Factory · GraphRAG + LLM + calculators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6446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2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234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5F7FA"/>
                </a:solidFill>
                <a:latin typeface="Arial"/>
              </a:defRPr>
            </a:pPr>
            <a:r>
              <a:t>Спасибо за внимание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05740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AAB2C4"/>
                </a:solidFill>
                <a:latin typeface="Arial"/>
              </a:defRPr>
            </a:pPr>
            <a:r>
              <a:t>Фабрика гипотез для ускорения старта НИОКР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3154680"/>
            <a:ext cx="8503920" cy="566928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57400" y="3310128"/>
            <a:ext cx="8046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97"/>
                </a:solidFill>
                <a:latin typeface="Arial"/>
              </a:defRPr>
            </a:pPr>
            <a:r>
              <a:t>UI: https://hackaton.baxic.ru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0" y="3886200"/>
            <a:ext cx="8503920" cy="566928"/>
          </a:xfrm>
          <a:prstGeom prst="rect">
            <a:avLst/>
          </a:prstGeom>
          <a:solidFill>
            <a:srgbClr val="191F2D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57400" y="4041648"/>
            <a:ext cx="8046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58A6FF"/>
                </a:solidFill>
                <a:latin typeface="Arial"/>
              </a:defRPr>
            </a:pPr>
            <a:r>
              <a:t>API Docs: https://hypothesisapi.baxic.ru/docs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446520"/>
            <a:ext cx="777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Норникель AI Hackathon · Hypothesis Factory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9720" y="6446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B2C4"/>
                </a:solidFill>
                <a:latin typeface="Arial"/>
              </a:defRPr>
            </a:pPr>
            <a:r>
              <a:t>https://hackaton.baxic.ru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