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302E0"/>
          </a:solidFill>
          <a:ln>
            <a:solidFill>
              <a:srgbClr val="530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943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302E0"/>
                </a:solidFill>
                <a:latin typeface="Proxima Nova"/>
              </a:defRPr>
            </a:pPr>
            <a:r>
              <a:t>AI Science Hack · Норникель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24128"/>
            <a:ext cx="4389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434343"/>
                </a:solidFill>
                <a:latin typeface="Proxima Nova"/>
              </a:defRPr>
            </a:pPr>
            <a:r>
              <a:t>Фабрика</a:t>
            </a:r>
            <a:br/>
            <a:r>
              <a:t>гипотез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6217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767676"/>
                </a:solidFill>
                <a:latin typeface="Proxima Nova"/>
              </a:defRPr>
            </a:pPr>
            <a:r>
              <a:t>Гибридная агентная система для генерации,</a:t>
            </a:r>
            <a:br/>
            <a:r>
              <a:t>обоснования и приоритизации научных гипотез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456432"/>
            <a:ext cx="1051560" cy="347472"/>
          </a:xfrm>
          <a:prstGeom prst="rect">
            <a:avLst/>
          </a:prstGeom>
          <a:solidFill>
            <a:srgbClr val="5302E0"/>
          </a:solidFill>
          <a:ln>
            <a:solidFill>
              <a:srgbClr val="530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Proxima Nova"/>
              </a:defRPr>
            </a:pPr>
            <a:r>
              <a:t>GraphRAG</a:t>
            </a:r>
          </a:p>
        </p:txBody>
      </p:sp>
      <p:sp>
        <p:nvSpPr>
          <p:cNvPr id="7" name="Rectangle 6"/>
          <p:cNvSpPr/>
          <p:nvPr/>
        </p:nvSpPr>
        <p:spPr>
          <a:xfrm>
            <a:off x="2148840" y="3456432"/>
            <a:ext cx="1325880" cy="347472"/>
          </a:xfrm>
          <a:prstGeom prst="rect">
            <a:avLst/>
          </a:prstGeom>
          <a:solidFill>
            <a:srgbClr val="5302E0"/>
          </a:solidFill>
          <a:ln>
            <a:solidFill>
              <a:srgbClr val="530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Proxima Nova"/>
              </a:defRPr>
            </a:pPr>
            <a:r>
              <a:t>Alice AI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3456432"/>
            <a:ext cx="1371600" cy="347472"/>
          </a:xfrm>
          <a:prstGeom prst="rect">
            <a:avLst/>
          </a:prstGeom>
          <a:solidFill>
            <a:srgbClr val="5302E0"/>
          </a:solidFill>
          <a:ln>
            <a:solidFill>
              <a:srgbClr val="530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Proxima Nova"/>
              </a:defRPr>
            </a:pPr>
            <a:r>
              <a:t>Predictive KPI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80" y="3456432"/>
            <a:ext cx="1234440" cy="347472"/>
          </a:xfrm>
          <a:prstGeom prst="rect">
            <a:avLst/>
          </a:prstGeom>
          <a:solidFill>
            <a:srgbClr val="5302E0"/>
          </a:solidFill>
          <a:ln>
            <a:solidFill>
              <a:srgbClr val="530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Proxima Nova"/>
              </a:defRPr>
            </a:pPr>
            <a:r>
              <a:t>Neo4j +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736592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Норникель AI Hackathon · Фабрика гипотез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736592"/>
            <a:ext cx="20116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https://hackaton.baxic.ru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302E0"/>
          </a:solidFill>
          <a:ln>
            <a:solidFill>
              <a:srgbClr val="530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7772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434343"/>
                </a:solidFill>
                <a:latin typeface="Proxima Nova"/>
              </a:defRPr>
            </a:pPr>
            <a:r>
              <a:t>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32688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767676"/>
                </a:solidFill>
                <a:latin typeface="Proxima Nova"/>
              </a:defRPr>
            </a:pPr>
            <a:r>
              <a:t>На старте НИОКР идеи часто формируются вручную и слабо связаны с данными.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481328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463040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Субъективность и зависимость от отдельных экспертов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57400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039112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Исторические отчеты и эксперименты остаются неструктурированными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33472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15184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Сложно сравнивать гипотезы по новизне, рискам, ресурсам и KPI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209544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191256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Долгий старт исследовательских проектов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736592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Норникель AI Hackathon · Фабрика гипотез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36592"/>
            <a:ext cx="20116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https://hackaton.baxic.ru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302E0"/>
          </a:solidFill>
          <a:ln>
            <a:solidFill>
              <a:srgbClr val="530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7772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434343"/>
                </a:solidFill>
                <a:latin typeface="Proxima Nova"/>
              </a:defRPr>
            </a:pPr>
            <a:r>
              <a:t>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32688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767676"/>
                </a:solidFill>
                <a:latin typeface="Proxima Nova"/>
              </a:defRPr>
            </a:pPr>
            <a:r>
              <a:t>Инструмент превращает базу знаний в проверяемые и ранжированные гипотезы.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481328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463040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Вход: цель, ограничения, сырье, оборудование, база знаний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57400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039112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GraphRAG извлекает материалы, параметры, процессы, свойства и источники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33472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15184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Гипотезы получают механизм, цитаты, риски и план проверки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209544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191256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Результаты уходят в отчеты, API и задачи Jira/YouTrack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736592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Норникель AI Hackathon · Фабрика гипотез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36592"/>
            <a:ext cx="20116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https://hackaton.baxic.ru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302E0"/>
          </a:solidFill>
          <a:ln>
            <a:solidFill>
              <a:srgbClr val="530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7772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434343"/>
                </a:solidFill>
                <a:latin typeface="Proxima Nova"/>
              </a:defRPr>
            </a:pPr>
            <a:r>
              <a:t>Архитектура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32688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767676"/>
                </a:solidFill>
                <a:latin typeface="Proxima Nova"/>
              </a:defRPr>
            </a:pPr>
            <a:r>
              <a:t>Гибридный агентный workflow от данных до задач.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828800"/>
            <a:ext cx="11430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530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975104"/>
            <a:ext cx="960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5302E0"/>
                </a:solidFill>
                <a:latin typeface="Proxima Nova"/>
              </a:defRPr>
            </a:pPr>
            <a:r>
              <a:t>Ingestion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04288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OCR + metadata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0312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5302E0"/>
                </a:solidFill>
                <a:latin typeface="Proxima Nova"/>
              </a:defRPr>
            </a:pPr>
            <a: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1828800"/>
            <a:ext cx="11430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530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1975104"/>
            <a:ext cx="960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5302E0"/>
                </a:solidFill>
                <a:latin typeface="Proxima Nova"/>
              </a:defRPr>
            </a:pPr>
            <a:r>
              <a:t>GraphRAG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304288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entities + paths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10312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5302E0"/>
                </a:solidFill>
                <a:latin typeface="Proxima Nova"/>
              </a:defRPr>
            </a:pPr>
            <a: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1828800"/>
            <a:ext cx="11430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530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1975104"/>
            <a:ext cx="960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5302E0"/>
                </a:solidFill>
                <a:latin typeface="Proxima Nova"/>
              </a:defRPr>
            </a:pPr>
            <a:r>
              <a:t>Hypotheses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304288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candidates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10312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5302E0"/>
                </a:solidFill>
                <a:latin typeface="Proxima Nova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1828800"/>
            <a:ext cx="11430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530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1975104"/>
            <a:ext cx="960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5302E0"/>
                </a:solidFill>
                <a:latin typeface="Proxima Nova"/>
              </a:defRPr>
            </a:pPr>
            <a:r>
              <a:t>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2304288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KPI + counterfactual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97880" y="210312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5302E0"/>
                </a:solidFill>
                <a:latin typeface="Proxima Nova"/>
              </a:defRPr>
            </a:pPr>
            <a: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828800"/>
            <a:ext cx="11430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530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975104"/>
            <a:ext cx="960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5302E0"/>
                </a:solidFill>
                <a:latin typeface="Proxima Nova"/>
              </a:defRPr>
            </a:pPr>
            <a:r>
              <a:t>LLM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304288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Alice summary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210312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5302E0"/>
                </a:solidFill>
                <a:latin typeface="Proxima Nova"/>
              </a:defRPr>
            </a:pPr>
            <a: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0" y="1828800"/>
            <a:ext cx="11430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530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0" y="1975104"/>
            <a:ext cx="960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5302E0"/>
                </a:solidFill>
                <a:latin typeface="Proxima Nova"/>
              </a:defRPr>
            </a:pPr>
            <a:r>
              <a:t>Outputs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2304288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reports + API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3886200"/>
            <a:ext cx="7406640" cy="411480"/>
          </a:xfrm>
          <a:prstGeom prst="rect">
            <a:avLst/>
          </a:prstGeom>
          <a:solidFill>
            <a:srgbClr val="5302E0"/>
          </a:solidFill>
          <a:ln>
            <a:solidFill>
              <a:srgbClr val="530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3986784"/>
            <a:ext cx="7086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Proxima Nova"/>
              </a:defRPr>
            </a:pPr>
            <a:r>
              <a:t>Neo4j хранит и запрашивает граф; Jira/YouTrack получают проверяемые задачи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736592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Норникель AI Hackathon · Фабрика гипотез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4736592"/>
            <a:ext cx="20116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https://hackaton.baxic.ru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302E0"/>
          </a:solidFill>
          <a:ln>
            <a:solidFill>
              <a:srgbClr val="530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7772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434343"/>
                </a:solidFill>
                <a:latin typeface="Proxima Nova"/>
              </a:defRPr>
            </a:pPr>
            <a:r>
              <a:t>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32688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767676"/>
                </a:solidFill>
                <a:latin typeface="Proxima Nova"/>
              </a:defRPr>
            </a:pPr>
            <a:r>
              <a:t>Два ключевых блока решения.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17320"/>
            <a:ext cx="3794760" cy="2971800"/>
          </a:xfrm>
          <a:prstGeom prst="rect">
            <a:avLst/>
          </a:prstGeom>
          <a:solidFill>
            <a:srgbClr val="FFFFFF"/>
          </a:solidFill>
          <a:ln>
            <a:solidFill>
              <a:srgbClr val="F2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1848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5302E0"/>
                </a:solidFill>
                <a:latin typeface="Proxima Nova"/>
              </a:defRPr>
            </a:pPr>
            <a:r>
              <a:t>Гибкость входных источников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67128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148840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PDF/DOCX/Excel/CSV/текст/изображения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606040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" y="2587752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OCR: русский, английский, китайский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044952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" y="3026664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Метаданные: даты, авторы, pH, температура, крупность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483864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" y="3465576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Нормализация tailings/flotation/尾矿/浮选 в онтологию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1417320"/>
            <a:ext cx="3794760" cy="2971800"/>
          </a:xfrm>
          <a:prstGeom prst="rect">
            <a:avLst/>
          </a:prstGeom>
          <a:solidFill>
            <a:srgbClr val="FFFFFF"/>
          </a:solidFill>
          <a:ln>
            <a:solidFill>
              <a:srgbClr val="F2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161848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5302E0"/>
                </a:solidFill>
                <a:latin typeface="Proxima Nova"/>
              </a:defRPr>
            </a:pPr>
            <a:r>
              <a:t>Устойчивость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2167128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1224" y="2148840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Hashing retrieval без empty vocabulary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65192" y="2606040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21224" y="2587752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Fallback для шумных и неполных данных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3044952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1224" y="3026664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Timeout'ы для OCR и внешних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65192" y="3483864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1224" y="3465576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Демо-база при отсутствии файлов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736592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Норникель AI Hackathon · Фабрика гипотез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736592"/>
            <a:ext cx="20116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https://hackaton.baxic.ru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302E0"/>
          </a:solidFill>
          <a:ln>
            <a:solidFill>
              <a:srgbClr val="530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7772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434343"/>
                </a:solidFill>
                <a:latin typeface="Proxima Nova"/>
              </a:defRPr>
            </a:pPr>
            <a:r>
              <a:t>Генерация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32688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767676"/>
                </a:solidFill>
                <a:latin typeface="Proxima Nova"/>
              </a:defRPr>
            </a:pPr>
            <a:r>
              <a:t>Два ключевых блока решения.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17320"/>
            <a:ext cx="3794760" cy="2971800"/>
          </a:xfrm>
          <a:prstGeom prst="rect">
            <a:avLst/>
          </a:prstGeom>
          <a:solidFill>
            <a:srgbClr val="FFFFFF"/>
          </a:solidFill>
          <a:ln>
            <a:solidFill>
              <a:srgbClr val="F2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1848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5302E0"/>
                </a:solidFill>
                <a:latin typeface="Proxima Nova"/>
              </a:defRPr>
            </a:pPr>
            <a:r>
              <a:t>Agentic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67128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148840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HypothesisAgent строит кандидатов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606040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" y="2587752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CounterfactualAgent сравнивает baseline и альтернативы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044952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" y="3026664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PredictiveKPIAgent оценивает normalized KPI uplift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483864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" y="3465576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CalculatorAgent проверяет ограничения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1417320"/>
            <a:ext cx="3794760" cy="2971800"/>
          </a:xfrm>
          <a:prstGeom prst="rect">
            <a:avLst/>
          </a:prstGeom>
          <a:solidFill>
            <a:srgbClr val="FFFFFF"/>
          </a:solidFill>
          <a:ln>
            <a:solidFill>
              <a:srgbClr val="F2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161848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5302E0"/>
                </a:solidFill>
                <a:latin typeface="Proxima Nova"/>
              </a:defRPr>
            </a:pPr>
            <a:r>
              <a:t>Внешняя проверка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2167128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1224" y="2148840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Alice AI LLM как обязательный long-context слой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65192" y="2606040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21224" y="2587752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Crossref + Semantic Scholar + PatentsView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3044952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1224" y="3026664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Feedback learning и ML-реранкинг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65192" y="3483864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1224" y="3465576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Neo4j query backend для графа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736592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Норникель AI Hackathon · Фабрика гипотез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736592"/>
            <a:ext cx="20116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https://hackaton.baxic.ru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302E0"/>
          </a:solidFill>
          <a:ln>
            <a:solidFill>
              <a:srgbClr val="530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7772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434343"/>
                </a:solidFill>
                <a:latin typeface="Proxima Nova"/>
              </a:defRPr>
            </a:pPr>
            <a:r>
              <a:t>Объяснимость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32688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767676"/>
                </a:solidFill>
                <a:latin typeface="Proxima Nova"/>
              </a:defRPr>
            </a:pPr>
            <a:r>
              <a:t>Каждая гипотеза показывает, почему она предложена и как ее проверять.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481328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463040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Score: novelty, feasibility, expected value, risk, confidence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57400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039112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Источники и цитаты из документов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33472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15184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GraphRAG-пути и визуальный граф связей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209544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191256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Counterfactual explanation и расчетные проверки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736592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Норникель AI Hackathon · Фабрика гипотез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36592"/>
            <a:ext cx="20116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https://hackaton.baxic.ru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302E0"/>
          </a:solidFill>
          <a:ln>
            <a:solidFill>
              <a:srgbClr val="530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7772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434343"/>
                </a:solidFill>
                <a:latin typeface="Proxima Nova"/>
              </a:defRPr>
            </a:pPr>
            <a:r>
              <a:t>Интеграции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32688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767676"/>
                </a:solidFill>
                <a:latin typeface="Proxima Nova"/>
              </a:defRPr>
            </a:pPr>
            <a:r>
              <a:t>Два ключевых блока решения.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17320"/>
            <a:ext cx="3794760" cy="2971800"/>
          </a:xfrm>
          <a:prstGeom prst="rect">
            <a:avLst/>
          </a:prstGeom>
          <a:solidFill>
            <a:srgbClr val="FFFFFF"/>
          </a:solidFill>
          <a:ln>
            <a:solidFill>
              <a:srgbClr val="F2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1848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5302E0"/>
                </a:solidFill>
                <a:latin typeface="Proxima Nova"/>
              </a:defRPr>
            </a:pPr>
            <a:r>
              <a:t>Для исследователя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67128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148840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PDF/DOCX/Markdown отчет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606040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" y="2587752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CSV/JSON выгрузка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044952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" y="3026664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Экспертная оценка: подтвердить / отклонить / проверить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483864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" y="3465576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Дорожная карта эксперимента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1417320"/>
            <a:ext cx="3794760" cy="2971800"/>
          </a:xfrm>
          <a:prstGeom prst="rect">
            <a:avLst/>
          </a:prstGeom>
          <a:solidFill>
            <a:srgbClr val="FFFFFF"/>
          </a:solidFill>
          <a:ln>
            <a:solidFill>
              <a:srgbClr val="F2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161848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5302E0"/>
                </a:solidFill>
                <a:latin typeface="Proxima Nova"/>
              </a:defRPr>
            </a:pPr>
            <a:r>
              <a:t>Для IT-контура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2167128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1224" y="2148840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FastAPI + Swagger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65192" y="2606040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21224" y="2587752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Jira / YouTrack tasks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3044952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1224" y="3026664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Docker 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65192" y="3483864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1224" y="3465576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JSON / GraphML / RDF / Neo4j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736592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Норникель AI Hackathon · Фабрика гипотез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736592"/>
            <a:ext cx="20116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https://hackaton.baxic.ru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302E0"/>
          </a:solidFill>
          <a:ln>
            <a:solidFill>
              <a:srgbClr val="530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7772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434343"/>
                </a:solidFill>
                <a:latin typeface="Proxima Nova"/>
              </a:defRPr>
            </a:pPr>
            <a:r>
              <a:t>Покрытие требований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32688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767676"/>
                </a:solidFill>
                <a:latin typeface="Proxima Nova"/>
              </a:defRPr>
            </a:pPr>
            <a:r>
              <a:t>Ключевые требования кейса закрыты на уровне MVP.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572768"/>
            <a:ext cx="2377440" cy="868680"/>
          </a:xfrm>
          <a:prstGeom prst="rect">
            <a:avLst/>
          </a:prstGeom>
          <a:solidFill>
            <a:srgbClr val="FFFFFF"/>
          </a:solidFill>
          <a:ln>
            <a:solidFill>
              <a:srgbClr val="F2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719072"/>
            <a:ext cx="20116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302E0"/>
                </a:solidFill>
                <a:latin typeface="Proxima Nova"/>
              </a:defRPr>
            </a:pPr>
            <a:r>
              <a:t>Полезность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0574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767676"/>
                </a:solidFill>
                <a:latin typeface="Proxima Nova"/>
              </a:defRPr>
            </a:pPr>
            <a:r>
              <a:t>проверяемые гипотезы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79" y="1572768"/>
            <a:ext cx="2377440" cy="868680"/>
          </a:xfrm>
          <a:prstGeom prst="rect">
            <a:avLst/>
          </a:prstGeom>
          <a:solidFill>
            <a:srgbClr val="FFFFFF"/>
          </a:solidFill>
          <a:ln>
            <a:solidFill>
              <a:srgbClr val="F2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7872" y="1719072"/>
            <a:ext cx="20116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302E0"/>
                </a:solidFill>
                <a:latin typeface="Proxima Nova"/>
              </a:defRPr>
            </a:pPr>
            <a:r>
              <a:t>Прозрачность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20574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767676"/>
                </a:solidFill>
                <a:latin typeface="Proxima Nova"/>
              </a:defRPr>
            </a:pPr>
            <a:r>
              <a:t>источники + граф + расчеты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572768"/>
            <a:ext cx="2377440" cy="868680"/>
          </a:xfrm>
          <a:prstGeom prst="rect">
            <a:avLst/>
          </a:prstGeom>
          <a:solidFill>
            <a:srgbClr val="FFFFFF"/>
          </a:solidFill>
          <a:ln>
            <a:solidFill>
              <a:srgbClr val="F2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1719072"/>
            <a:ext cx="20116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302E0"/>
                </a:solidFill>
                <a:latin typeface="Proxima Nova"/>
              </a:defRPr>
            </a:pPr>
            <a:r>
              <a:t>Гибкость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6792" y="20574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767676"/>
                </a:solidFill>
                <a:latin typeface="Proxima Nova"/>
              </a:defRPr>
            </a:pPr>
            <a:r>
              <a:t>форматы + OCR + metadata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807208"/>
            <a:ext cx="2377440" cy="868680"/>
          </a:xfrm>
          <a:prstGeom prst="rect">
            <a:avLst/>
          </a:prstGeom>
          <a:solidFill>
            <a:srgbClr val="FFFFFF"/>
          </a:solidFill>
          <a:ln>
            <a:solidFill>
              <a:srgbClr val="F2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953512"/>
            <a:ext cx="20116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302E0"/>
                </a:solidFill>
                <a:latin typeface="Proxima Nova"/>
              </a:defRPr>
            </a:pPr>
            <a:r>
              <a:t>Масштабируемость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32918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767676"/>
                </a:solidFill>
                <a:latin typeface="Proxima Nova"/>
              </a:defRPr>
            </a:pPr>
            <a:r>
              <a:t>модули + Neo4j/RDF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79" y="2807208"/>
            <a:ext cx="2377440" cy="868680"/>
          </a:xfrm>
          <a:prstGeom prst="rect">
            <a:avLst/>
          </a:prstGeom>
          <a:solidFill>
            <a:srgbClr val="FFFFFF"/>
          </a:solidFill>
          <a:ln>
            <a:solidFill>
              <a:srgbClr val="F2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47872" y="2953512"/>
            <a:ext cx="20116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302E0"/>
                </a:solidFill>
                <a:latin typeface="Proxima Nova"/>
              </a:defRPr>
            </a:pPr>
            <a:r>
              <a:t>Интеграция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7872" y="32918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767676"/>
                </a:solidFill>
                <a:latin typeface="Proxima Nova"/>
              </a:defRPr>
            </a:pPr>
            <a:r>
              <a:t>API + PDF/DOCX + tasks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2807208"/>
            <a:ext cx="2377440" cy="868680"/>
          </a:xfrm>
          <a:prstGeom prst="rect">
            <a:avLst/>
          </a:prstGeom>
          <a:solidFill>
            <a:srgbClr val="FFFFFF"/>
          </a:solidFill>
          <a:ln>
            <a:solidFill>
              <a:srgbClr val="F2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2953512"/>
            <a:ext cx="20116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302E0"/>
                </a:solidFill>
                <a:latin typeface="Proxima Nova"/>
              </a:defRPr>
            </a:pPr>
            <a:r>
              <a:t>Безопасность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32918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767676"/>
                </a:solidFill>
                <a:latin typeface="Proxima Nova"/>
              </a:defRPr>
            </a:pPr>
            <a:r>
              <a:t>Docker + token roles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736592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Норникель AI Hackathon · Фабрика гипотез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736592"/>
            <a:ext cx="20116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https://hackaton.baxic.ru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302E0"/>
          </a:solidFill>
          <a:ln>
            <a:solidFill>
              <a:srgbClr val="530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7772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434343"/>
                </a:solidFill>
                <a:latin typeface="Proxima Nova"/>
              </a:defRPr>
            </a:pPr>
            <a:r>
              <a:t>Публичное демо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32688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767676"/>
                </a:solidFill>
                <a:latin typeface="Proxima Nova"/>
              </a:defRPr>
            </a:pPr>
            <a:r>
              <a:t>Развернутые сервисы для тестирования.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6002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302E0"/>
                </a:solidFill>
                <a:latin typeface="Proxima Nova"/>
              </a:defRPr>
            </a:pPr>
            <a:r>
              <a:t>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600200"/>
            <a:ext cx="6217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434343"/>
                </a:solidFill>
                <a:latin typeface="Proxima Nova"/>
              </a:defRPr>
            </a:pPr>
            <a:r>
              <a:t>https://hackaton.baxic.ru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514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302E0"/>
                </a:solidFill>
                <a:latin typeface="Proxima Nova"/>
              </a:defRPr>
            </a:pPr>
            <a:r>
              <a:t>API Docs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514600"/>
            <a:ext cx="6217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434343"/>
                </a:solidFill>
                <a:latin typeface="Proxima Nova"/>
              </a:defRPr>
            </a:pPr>
            <a:r>
              <a:t>https://hypothesisapi.baxic.ru/docs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4290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302E0"/>
                </a:solidFill>
                <a:latin typeface="Proxima Nova"/>
              </a:defRPr>
            </a:pPr>
            <a:r>
              <a:t>Healthcheck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429000"/>
            <a:ext cx="6217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434343"/>
                </a:solidFill>
                <a:latin typeface="Proxima Nova"/>
              </a:defRPr>
            </a:pPr>
            <a:r>
              <a:t>https://hypothesisapi.baxic.ru/health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4343400"/>
            <a:ext cx="7406640" cy="411480"/>
          </a:xfrm>
          <a:prstGeom prst="rect">
            <a:avLst/>
          </a:prstGeom>
          <a:solidFill>
            <a:srgbClr val="5302E0"/>
          </a:solidFill>
          <a:ln>
            <a:solidFill>
              <a:srgbClr val="530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4443984"/>
            <a:ext cx="7086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Proxima Nova"/>
              </a:defRPr>
            </a:pPr>
            <a:r>
              <a:t>API использует X-API-Key; demo-token передается жюри отдельно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736592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Норникель AI Hackathon · Фабрика гипотез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36592"/>
            <a:ext cx="20116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https://hackaton.baxic.ru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302E0"/>
          </a:solidFill>
          <a:ln>
            <a:solidFill>
              <a:srgbClr val="530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7772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434343"/>
                </a:solidFill>
                <a:latin typeface="Proxima Nova"/>
              </a:defRPr>
            </a:pPr>
            <a:r>
              <a:t>Демо за 5 минут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32688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767676"/>
                </a:solidFill>
                <a:latin typeface="Proxima Nova"/>
              </a:defRPr>
            </a:pPr>
            <a:r>
              <a:t>Рекомендуемый сценарий показа.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481328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463040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Открыть UI и загрузить документы/таблицы/изображения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57400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039112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Запустить генерацию и показать трассировку агентов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33472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15184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Открыть карточку топ-гипотезы: механизм, источники, риски, план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209544"/>
            <a:ext cx="164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302E0"/>
                </a:solidFill>
                <a:latin typeface="Proxima Nova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191256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434343"/>
                </a:solidFill>
                <a:latin typeface="Proxima Nova"/>
              </a:defRPr>
            </a:pPr>
            <a:r>
              <a:t>Показать граф, PDF/DOCX/JSON экспорт и Swagger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736592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Норникель AI Hackathon · Фабрика гипотез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36592"/>
            <a:ext cx="20116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https://hackaton.baxic.ru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302E0"/>
          </a:solidFill>
          <a:ln>
            <a:solidFill>
              <a:srgbClr val="530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7772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434343"/>
                </a:solidFill>
                <a:latin typeface="Proxima Nova"/>
              </a:defRPr>
            </a:pPr>
            <a:r>
              <a:t>Ключевая формулировка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32688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767676"/>
                </a:solidFill>
                <a:latin typeface="Proxima Nova"/>
              </a:defRPr>
            </a:pPr>
            <a:r>
              <a:t>Что важно запомнить жюри.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7498079" cy="1965960"/>
          </a:xfrm>
          <a:prstGeom prst="rect">
            <a:avLst/>
          </a:prstGeom>
          <a:solidFill>
            <a:srgbClr val="FFFFFF"/>
          </a:solidFill>
          <a:ln>
            <a:solidFill>
              <a:srgbClr val="530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901952"/>
            <a:ext cx="69037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434343"/>
                </a:solidFill>
                <a:latin typeface="Proxima Nova"/>
              </a:defRPr>
            </a:pPr>
            <a:r>
              <a:t>Мы реализовали гибридную агентную фабрику гипотез:</a:t>
            </a:r>
            <a:br/>
            <a:r>
              <a:t>GraphRAG + Alice AI LLM + counterfactual analysis + predictive KPI model + novelty screening + feedback learning.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736592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Норникель AI Hackathon · Фабрика гипотез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4736592"/>
            <a:ext cx="20116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https://hackaton.baxic.ru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302E0"/>
          </a:solidFill>
          <a:ln>
            <a:solidFill>
              <a:srgbClr val="530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43000"/>
            <a:ext cx="51206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434343"/>
                </a:solidFill>
                <a:latin typeface="Proxima Nova"/>
              </a:defRPr>
            </a:pPr>
            <a:r>
              <a:t>Спасибо</a:t>
            </a:r>
            <a:br/>
            <a:r>
              <a:t>за внимание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767676"/>
                </a:solidFill>
                <a:latin typeface="Proxima Nova"/>
              </a:defRPr>
            </a:pPr>
            <a:r>
              <a:t>Фабрика гипотез для ускорения старта НИОКР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337560"/>
            <a:ext cx="7406640" cy="411480"/>
          </a:xfrm>
          <a:prstGeom prst="rect">
            <a:avLst/>
          </a:prstGeom>
          <a:solidFill>
            <a:srgbClr val="5302E0"/>
          </a:solidFill>
          <a:ln>
            <a:solidFill>
              <a:srgbClr val="530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38144"/>
            <a:ext cx="7086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Proxima Nova"/>
              </a:defRPr>
            </a:pPr>
            <a:r>
              <a:t>UI: https://hackaton.baxic.ru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977639"/>
            <a:ext cx="7406640" cy="411480"/>
          </a:xfrm>
          <a:prstGeom prst="rect">
            <a:avLst/>
          </a:prstGeom>
          <a:solidFill>
            <a:srgbClr val="00FFBF"/>
          </a:solidFill>
          <a:ln>
            <a:solidFill>
              <a:srgbClr val="00F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078224"/>
            <a:ext cx="7086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Proxima Nova"/>
              </a:defRPr>
            </a:pPr>
            <a:r>
              <a:t>API Docs: https://hypothesisapi.baxic.ru/docs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736592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Норникель AI Hackathon · Фабрика гипотез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4736592"/>
            <a:ext cx="20116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67676"/>
                </a:solidFill>
                <a:latin typeface="Proxima Nova"/>
              </a:defRPr>
            </a:pPr>
            <a:r>
              <a:t>https://hackaton.baxic.ru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