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8DC789-E486-4FA6-99C8-0EA2E8B19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910FA4-C59F-4CF6-B97F-8940283C3D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79CF9E9-78F0-4F26-B181-81762848A0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A9C7B4C-EA57-49F2-B3A4-01EF0E2910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0229FC-EC54-4D0E-AA08-5C6494676C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219A296-62FD-4310-BD6E-52478461F7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BBA54E5-4E37-4B2E-8C0C-694F631827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0EDBAA-BE6F-4AED-9BC8-0B286E45EA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D83F205-B5AE-4832-A273-B4F696AB89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564801F-4D04-43A3-AA8C-ABE02FDE78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E290219-EC6D-4496-8527-E4D18FF68F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C5A637-FBC4-4BC9-A11C-8BAEABB152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6C0748-4274-4968-9F8E-954A8DC25B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535BD3-B615-4FA5-AD7B-B7B0C58DD4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72E4A8-25CC-49A1-8D59-BEE8C5F809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6308A5-E06D-470A-B7B8-08F6B6A375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000315-4AE9-4F5A-9963-34D122C210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DEDFBF-BCEA-46C0-86C7-F581DA3700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6EF045-1D0B-4E3D-B66E-F1F9ED4BB3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91F61E-8329-4F10-AC5F-B9E3A1EA84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823823-B9CF-4ACA-B8E1-80339D1B6C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307772-C849-4128-9777-59850076E8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914400"/>
            <a:ext cx="109724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5f7fa"/>
                </a:solidFill>
                <a:latin typeface="Arial"/>
              </a:rPr>
              <a:t>Фабрика гипотез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1737360"/>
            <a:ext cx="103323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aab2c4"/>
                </a:solidFill>
                <a:latin typeface="Arial"/>
              </a:rPr>
              <a:t>Гибридная агентная система</a:t>
            </a:r>
            <a:br>
              <a:rPr sz="2000"/>
            </a:br>
            <a:r>
              <a:rPr b="0" lang="en-US" sz="2000" spc="-1" strike="noStrike">
                <a:solidFill>
                  <a:srgbClr val="aab2c4"/>
                </a:solidFill>
                <a:latin typeface="Arial"/>
              </a:rPr>
              <a:t>для генерации, обоснования и приоритизации гипотез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685800" y="2834640"/>
            <a:ext cx="1416960" cy="41112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5f7fa"/>
                </a:solidFill>
                <a:latin typeface="Arial"/>
              </a:rPr>
              <a:t>GraphRAG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2377440" y="2834640"/>
            <a:ext cx="1416960" cy="41112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5f7fa"/>
                </a:solidFill>
                <a:latin typeface="Arial"/>
              </a:rPr>
              <a:t>Long-Context LLM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4069080" y="2834640"/>
            <a:ext cx="1416960" cy="41112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5f7fa"/>
                </a:solidFill>
                <a:latin typeface="Arial"/>
              </a:rPr>
              <a:t>Counterfactual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760720" y="2834640"/>
            <a:ext cx="1416960" cy="41112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5f7fa"/>
                </a:solidFill>
                <a:latin typeface="Arial"/>
              </a:rPr>
              <a:t>Predictive KPI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7452360" y="2834640"/>
            <a:ext cx="1416960" cy="41112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5f7fa"/>
                </a:solidFill>
                <a:latin typeface="Arial"/>
              </a:rPr>
              <a:t>Neo4j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9144000" y="2834640"/>
            <a:ext cx="1416960" cy="41112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5f7fa"/>
                </a:solidFill>
                <a:latin typeface="Arial"/>
              </a:rPr>
              <a:t>API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Норникель AI Hackathon · Фабрика гипотез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Проблема кейса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На старте НИОКР идеи часто формируются вручную и плохо связаны с историческими данными.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Субъективность и зависимость от отдельных экспертов.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Низкая связность гипотез с бизнес-эффектом и KPI.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Неиспользуемые архивы отчетов, экспериментов, патентов и таблиц.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Нет единого формата оценки новизны, рисков, ресурсов и ожидаемой ценности.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Долгий старт исследовательских проектов.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Идея решения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Инструмент превращает разнородную базу знаний в ранжированный список проверяемых гипотез.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Принимает цель/KPI, ограничения, сырье, оборудование и веса ранжирования.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Загружает PDF/DOCX/Excel/CSV/текст/изображения и извлекает метаданные.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Строит GraphRAG-граф материалов, процессов, свойств, параметров и источников.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Генерирует гипотезы с механизмом влияния, источниками и планом проверки.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Экспортирует результат в PDF/DOCX/JSON/CSV/API и задачи Jira/YouTrack.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Архитектура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Гибридный агентный пайплайн с трассировкой каждого шага.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502920" y="2240280"/>
            <a:ext cx="1645560" cy="1051200"/>
          </a:xfrm>
          <a:prstGeom prst="rect">
            <a:avLst/>
          </a:prstGeom>
          <a:solidFill>
            <a:srgbClr val="191f2d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612720" y="2386440"/>
            <a:ext cx="142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Arial"/>
              </a:rPr>
              <a:t>Ingestion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612720" y="274320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OCR + metadata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2130480" y="2697480"/>
            <a:ext cx="31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ab2c4"/>
                </a:solidFill>
                <a:latin typeface="Arial"/>
              </a:rPr>
              <a:t>→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2404800" y="2240280"/>
            <a:ext cx="1645560" cy="1051200"/>
          </a:xfrm>
          <a:prstGeom prst="rect">
            <a:avLst/>
          </a:prstGeom>
          <a:solidFill>
            <a:srgbClr val="191f2d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2514600" y="2386440"/>
            <a:ext cx="142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Arial"/>
              </a:rPr>
              <a:t>Retrieval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2514600" y="274320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Hashing RAG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4032360" y="2697480"/>
            <a:ext cx="31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ab2c4"/>
                </a:solidFill>
                <a:latin typeface="Arial"/>
              </a:rPr>
              <a:t>→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 11"/>
          <p:cNvSpPr/>
          <p:nvPr/>
        </p:nvSpPr>
        <p:spPr>
          <a:xfrm>
            <a:off x="4306680" y="2240280"/>
            <a:ext cx="1645560" cy="1051200"/>
          </a:xfrm>
          <a:prstGeom prst="rect">
            <a:avLst/>
          </a:prstGeom>
          <a:solidFill>
            <a:srgbClr val="191f2d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4416480" y="2386440"/>
            <a:ext cx="142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8a6ff"/>
                </a:solidFill>
                <a:latin typeface="Arial"/>
              </a:rPr>
              <a:t>GraphRAG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4416480" y="2743200"/>
            <a:ext cx="1425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entities + paths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5934600" y="2697480"/>
            <a:ext cx="31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ab2c4"/>
                </a:solidFill>
                <a:latin typeface="Arial"/>
              </a:rPr>
              <a:t>→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 15"/>
          <p:cNvSpPr/>
          <p:nvPr/>
        </p:nvSpPr>
        <p:spPr>
          <a:xfrm>
            <a:off x="6208920" y="2240280"/>
            <a:ext cx="1645560" cy="105120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6318360" y="2386440"/>
            <a:ext cx="142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525c"/>
                </a:solidFill>
                <a:latin typeface="Arial"/>
              </a:rPr>
              <a:t>Hypotheses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6318360" y="2743200"/>
            <a:ext cx="14259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candidate generation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7836480" y="2697480"/>
            <a:ext cx="31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ab2c4"/>
                </a:solidFill>
                <a:latin typeface="Arial"/>
              </a:rPr>
              <a:t>→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 19"/>
          <p:cNvSpPr/>
          <p:nvPr/>
        </p:nvSpPr>
        <p:spPr>
          <a:xfrm>
            <a:off x="8110800" y="2240280"/>
            <a:ext cx="1645560" cy="105120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20"/>
          <p:cNvSpPr/>
          <p:nvPr/>
        </p:nvSpPr>
        <p:spPr>
          <a:xfrm>
            <a:off x="8220600" y="2386440"/>
            <a:ext cx="142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525c"/>
                </a:solidFill>
                <a:latin typeface="Arial"/>
              </a:rPr>
              <a:t>Checks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21"/>
          <p:cNvSpPr/>
          <p:nvPr/>
        </p:nvSpPr>
        <p:spPr>
          <a:xfrm>
            <a:off x="8220600" y="2743200"/>
            <a:ext cx="14259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counterfactual + KPI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22"/>
          <p:cNvSpPr/>
          <p:nvPr/>
        </p:nvSpPr>
        <p:spPr>
          <a:xfrm>
            <a:off x="9738360" y="2697480"/>
            <a:ext cx="319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aab2c4"/>
                </a:solidFill>
                <a:latin typeface="Arial"/>
              </a:rPr>
              <a:t>→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23"/>
          <p:cNvSpPr/>
          <p:nvPr/>
        </p:nvSpPr>
        <p:spPr>
          <a:xfrm>
            <a:off x="10012680" y="2240280"/>
            <a:ext cx="1645560" cy="1051200"/>
          </a:xfrm>
          <a:prstGeom prst="rect">
            <a:avLst/>
          </a:prstGeom>
          <a:solidFill>
            <a:srgbClr val="191f2d"/>
          </a:solidFill>
          <a:ln>
            <a:solidFill>
              <a:srgbClr val="ff52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24"/>
          <p:cNvSpPr/>
          <p:nvPr/>
        </p:nvSpPr>
        <p:spPr>
          <a:xfrm>
            <a:off x="10122480" y="2386440"/>
            <a:ext cx="1425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525c"/>
                </a:solidFill>
                <a:latin typeface="Arial"/>
              </a:rPr>
              <a:t>Outputs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25"/>
          <p:cNvSpPr/>
          <p:nvPr/>
        </p:nvSpPr>
        <p:spPr>
          <a:xfrm>
            <a:off x="10122480" y="2743200"/>
            <a:ext cx="14259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reports + API + tasks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26"/>
          <p:cNvSpPr/>
          <p:nvPr/>
        </p:nvSpPr>
        <p:spPr>
          <a:xfrm>
            <a:off x="914400" y="4846320"/>
            <a:ext cx="10332360" cy="79380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7"/>
          <p:cNvSpPr/>
          <p:nvPr/>
        </p:nvSpPr>
        <p:spPr>
          <a:xfrm>
            <a:off x="1143000" y="5001840"/>
            <a:ext cx="9875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3ddc97"/>
                </a:solidFill>
                <a:latin typeface="Arial"/>
              </a:rPr>
              <a:t>Neo4j хранит граф, YandexGPT получает long-context, Jira/YouTrack получают проверяемые задачи.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28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29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Данные и предобработка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Система рассчитана на неполные, шумные и мультиязычные источники.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Форматы: txt, md, pdf, docx, csv, xlsx, png, jpg, jpeg, webp.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OCR: русский, английский, китайский; есть timeout и fallback для демо.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Метаданные: даты, авторы, pH, температура, проценты, крупность частиц.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Нормализация терминов: tailings/flotation/</a:t>
            </a:r>
            <a:r>
              <a:rPr b="0" lang="zh-CN" sz="1800" spc="-1" strike="noStrike">
                <a:solidFill>
                  <a:srgbClr val="f5f7fa"/>
                </a:solidFill>
                <a:latin typeface="Arial"/>
              </a:rPr>
              <a:t>尾矿</a:t>
            </a: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/</a:t>
            </a:r>
            <a:r>
              <a:rPr b="0" lang="zh-CN" sz="1800" spc="-1" strike="noStrike">
                <a:solidFill>
                  <a:srgbClr val="f5f7fa"/>
                </a:solidFill>
                <a:latin typeface="Arial"/>
              </a:rPr>
              <a:t>浮选 </a:t>
            </a: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-&gt; русская онтология.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HashingVectorizer устойчив к пустым словарям и шумным документам.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Генерация и проверка гипотез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Пайплайн не просто пишет текст, а оставляет проверяемый след рассуждения.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HypothesisAgent формирует кандидатов из факторов, процессов и целевых свойств.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CounterfactualAgent сравнивает baseline, сценарий без фактора и альтернативный процесс.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PredictiveKPIAgent использует RandomForest surrogate для оценки normalized KPI uplift.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0"/>
          <p:cNvSpPr/>
          <p:nvPr/>
        </p:nvSpPr>
        <p:spPr>
          <a:xfrm>
            <a:off x="1216080" y="3648600"/>
            <a:ext cx="10240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CalculatorAgent проверяет оборудование, стоимость, KPI-эффект, баланс процесса и термоокно.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NoveltyAgent делает preliminary screening по Crossref, Semantic Scholar и PatentsView.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Объяснимость и ранжирование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Каждая гипотеза получает прозрачное обоснование для эксперта.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Score: novelty, feasibility, expected value, risk, confidence.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Карточка: формулировка, механизм, источники, цитаты, риски, ресурсы, план эксперимента.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GraphRAG показывает связанные узлы и объяснимые пути в графе.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Feedback learning: экспертные оценки обучают ML-реранкер для следующих запусков.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2"/>
          <p:cNvSpPr/>
          <p:nvPr/>
        </p:nvSpPr>
        <p:spPr>
          <a:xfrm>
            <a:off x="1216080" y="4306680"/>
            <a:ext cx="10240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Long-context пакет передается в YandexGPT как экспертный слой, не заменяя базовый scoring.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Интеграции и развертывание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Решение готово к встраиванию в исследовательский процесс.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Публичный UI: https://hackaton.baxic.ru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API + Swagger: https://hypothesisapi.baxic.ru/docs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Docker Compose: Streamlit, FastAPI, Neo4j.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Graph storage: JSON, GraphML, RDF/Turtle, Neo4j sync/query.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Jira/YouTrack: создание задач из гипотез; role-based token auth для UI/API.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Покрытие требований кейса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Ключевые требования закрыты на уровне хакатонного MVP.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868680" y="1691640"/>
            <a:ext cx="4800240" cy="9140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978480" y="1837800"/>
            <a:ext cx="4580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ddc97"/>
                </a:solidFill>
                <a:latin typeface="Arial"/>
              </a:rPr>
              <a:t>Полезность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978480" y="2194560"/>
            <a:ext cx="4580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проверяемые гипотезы + план эксперимента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 6"/>
          <p:cNvSpPr/>
          <p:nvPr/>
        </p:nvSpPr>
        <p:spPr>
          <a:xfrm>
            <a:off x="6355080" y="1691640"/>
            <a:ext cx="4800240" cy="9140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6464880" y="1837800"/>
            <a:ext cx="4580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ddc97"/>
                </a:solidFill>
                <a:latin typeface="Arial"/>
              </a:rPr>
              <a:t>Прозрачность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6464880" y="2194560"/>
            <a:ext cx="4580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источники + GraphRAG + расчеты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ectangle 9"/>
          <p:cNvSpPr/>
          <p:nvPr/>
        </p:nvSpPr>
        <p:spPr>
          <a:xfrm>
            <a:off x="868680" y="3017520"/>
            <a:ext cx="4800240" cy="9140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10"/>
          <p:cNvSpPr/>
          <p:nvPr/>
        </p:nvSpPr>
        <p:spPr>
          <a:xfrm>
            <a:off x="978480" y="3163680"/>
            <a:ext cx="4580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ddc97"/>
                </a:solidFill>
                <a:latin typeface="Arial"/>
              </a:rPr>
              <a:t>Гибкость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11"/>
          <p:cNvSpPr/>
          <p:nvPr/>
        </p:nvSpPr>
        <p:spPr>
          <a:xfrm>
            <a:off x="978480" y="3520440"/>
            <a:ext cx="4580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разные форматы + OCR + metadata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Rectangle 12"/>
          <p:cNvSpPr/>
          <p:nvPr/>
        </p:nvSpPr>
        <p:spPr>
          <a:xfrm>
            <a:off x="6355080" y="3017520"/>
            <a:ext cx="4800240" cy="9140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6464880" y="3163680"/>
            <a:ext cx="4580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ddc97"/>
                </a:solidFill>
                <a:latin typeface="Arial"/>
              </a:rPr>
              <a:t>Масштабируемость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4"/>
          <p:cNvSpPr/>
          <p:nvPr/>
        </p:nvSpPr>
        <p:spPr>
          <a:xfrm>
            <a:off x="6464880" y="3520440"/>
            <a:ext cx="4580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модули + Neo4j/RDF/GraphML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ectangle 15"/>
          <p:cNvSpPr/>
          <p:nvPr/>
        </p:nvSpPr>
        <p:spPr>
          <a:xfrm>
            <a:off x="868680" y="4343400"/>
            <a:ext cx="4800240" cy="9140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978480" y="4489560"/>
            <a:ext cx="4580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ddc97"/>
                </a:solidFill>
                <a:latin typeface="Arial"/>
              </a:rPr>
              <a:t>Интеграция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17"/>
          <p:cNvSpPr/>
          <p:nvPr/>
        </p:nvSpPr>
        <p:spPr>
          <a:xfrm>
            <a:off x="978480" y="4846320"/>
            <a:ext cx="4580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PDF/DOCX/API/Jira/YouTrack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 18"/>
          <p:cNvSpPr/>
          <p:nvPr/>
        </p:nvSpPr>
        <p:spPr>
          <a:xfrm>
            <a:off x="6355080" y="4343400"/>
            <a:ext cx="4800240" cy="9140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6464880" y="4489560"/>
            <a:ext cx="4580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ddc97"/>
                </a:solidFill>
                <a:latin typeface="Arial"/>
              </a:rPr>
              <a:t>Безопасность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6464880" y="4846320"/>
            <a:ext cx="4580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aab2c4"/>
                </a:solidFill>
                <a:latin typeface="Arial"/>
              </a:rPr>
              <a:t>Docker + tokens + роли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Box 22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Демо за 5 минут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Рекомендуемый сценарий показа жюри.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Открыть UI, войти по demo-token и загрузить документы/таблицы/изображения.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1216080" y="233172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Запустить генерацию и показать трассировку агентов.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Открыть карточку топ-гипотезы: механизм, источники, расчеты, counterfactual, план проверки.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Показать граф связей, экспорт PDF/DOCX/JSON и сохранение feedback.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Открыть Swagger API, выполнить POST /api/generate с X-API-Key.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/>
          <p:nvPr/>
        </p:nvSpPr>
        <p:spPr>
          <a:xfrm>
            <a:off x="594360" y="411480"/>
            <a:ext cx="10972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rial"/>
              </a:rPr>
              <a:t>Почему это сильное решение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621720" y="932760"/>
            <a:ext cx="1078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aab2c4"/>
                </a:solidFill>
                <a:latin typeface="Arial"/>
              </a:rPr>
              <a:t>Формулировка для защиты.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868680" y="16916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Box 4"/>
          <p:cNvSpPr/>
          <p:nvPr/>
        </p:nvSpPr>
        <p:spPr>
          <a:xfrm>
            <a:off x="1216080" y="16732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Это не RAG-чат, а end-to-end research workflow.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868680" y="235008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6"/>
          <p:cNvSpPr/>
          <p:nvPr/>
        </p:nvSpPr>
        <p:spPr>
          <a:xfrm>
            <a:off x="1216080" y="2331720"/>
            <a:ext cx="10240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Покрывает путь: данные -&gt; GraphRAG -&gt; гипотезы -&gt; проверки -&gt; feedback -&gt; отчеты/API/tasks.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868680" y="300852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1216080" y="299016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Работает локально и безопасно для конфиденциальных данных.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868680" y="366660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10"/>
          <p:cNvSpPr/>
          <p:nvPr/>
        </p:nvSpPr>
        <p:spPr>
          <a:xfrm>
            <a:off x="1216080" y="364860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Модульная архитектура расширяется на новые предметные области.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868680" y="4325040"/>
            <a:ext cx="228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525c"/>
                </a:solidFill>
                <a:latin typeface="Arial"/>
              </a:rPr>
              <a:t>•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1216080" y="4306680"/>
            <a:ext cx="10240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5f7fa"/>
                </a:solidFill>
                <a:latin typeface="Arial"/>
              </a:rPr>
              <a:t>Готово для MVP-использования и промышленного развития.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ectangle 13"/>
          <p:cNvSpPr/>
          <p:nvPr/>
        </p:nvSpPr>
        <p:spPr>
          <a:xfrm>
            <a:off x="960480" y="5578200"/>
            <a:ext cx="10469520" cy="70200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1097280" y="5641920"/>
            <a:ext cx="10012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3ddc97"/>
                </a:solidFill>
                <a:latin typeface="Arial"/>
              </a:rPr>
              <a:t>GraphRAG + Long-Context LLM + Counterfactual + Predictive KPI + Novelty + Feedback Learning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Hypothesis Factory · GraphRAG + LLM + calculators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640080" y="1234440"/>
            <a:ext cx="10972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5f7fa"/>
                </a:solidFill>
                <a:latin typeface="Arial"/>
              </a:rPr>
              <a:t>Спасибо за внимание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685800" y="2057400"/>
            <a:ext cx="10789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aab2c4"/>
                </a:solidFill>
                <a:latin typeface="Arial"/>
              </a:rPr>
              <a:t>Фабрика гипотез для ускорения старта НИОКР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Rectangle 3"/>
          <p:cNvSpPr/>
          <p:nvPr/>
        </p:nvSpPr>
        <p:spPr>
          <a:xfrm>
            <a:off x="1828800" y="3154680"/>
            <a:ext cx="8503560" cy="566640"/>
          </a:xfrm>
          <a:prstGeom prst="rect">
            <a:avLst/>
          </a:prstGeom>
          <a:solidFill>
            <a:srgbClr val="191f2d"/>
          </a:solidFill>
          <a:ln>
            <a:solidFill>
              <a:srgbClr val="3ddc9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2057400" y="3310200"/>
            <a:ext cx="804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3ddc97"/>
                </a:solidFill>
                <a:latin typeface="Arial"/>
              </a:rPr>
              <a:t>UI: https://hackaton.baxic.ru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ectangle 5"/>
          <p:cNvSpPr/>
          <p:nvPr/>
        </p:nvSpPr>
        <p:spPr>
          <a:xfrm>
            <a:off x="1828800" y="3886200"/>
            <a:ext cx="8503560" cy="566640"/>
          </a:xfrm>
          <a:prstGeom prst="rect">
            <a:avLst/>
          </a:prstGeom>
          <a:solidFill>
            <a:srgbClr val="191f2d"/>
          </a:solidFill>
          <a:ln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6"/>
          <p:cNvSpPr/>
          <p:nvPr/>
        </p:nvSpPr>
        <p:spPr>
          <a:xfrm>
            <a:off x="2057400" y="4041720"/>
            <a:ext cx="804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58a6ff"/>
                </a:solidFill>
                <a:latin typeface="Arial"/>
              </a:rPr>
              <a:t>API Docs: https://hypothesisapi.baxic.ru/docs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7"/>
          <p:cNvSpPr/>
          <p:nvPr/>
        </p:nvSpPr>
        <p:spPr>
          <a:xfrm>
            <a:off x="594360" y="6446520"/>
            <a:ext cx="7772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Норникель AI Hackathon · Hypothesis Factory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8"/>
          <p:cNvSpPr/>
          <p:nvPr/>
        </p:nvSpPr>
        <p:spPr>
          <a:xfrm>
            <a:off x="9189720" y="6446520"/>
            <a:ext cx="23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aab2c4"/>
                </a:solidFill>
                <a:latin typeface="Arial"/>
              </a:rPr>
              <a:t>https://hackaton.baxic.ru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LibreOffice/24.2.4.2$Windows_X86_64 LibreOffice_project/51a6219feb6075d9a4c46691dcfe0cd9c4fff3c2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2026-07-04T05:14:46Z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