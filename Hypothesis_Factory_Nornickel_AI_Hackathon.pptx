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8.xml" ContentType="application/vnd.openxmlformats-officedocument.theme+xml"/>
  <Override PartName="/ppt/theme/theme5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72" r:id="rId11"/>
    <p:sldMasterId id="2147483674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6C6C3E-8CD2-46F6-95AA-4C9F3B83B6E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A4E155C-0C23-4910-B559-BD7DA7890DA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10055520" y="273600"/>
            <a:ext cx="152676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 vert="eaVert">
            <a:no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609480" y="273240"/>
            <a:ext cx="8534160" cy="530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DF7F58E-FA45-4DBB-A2EB-C4CB5CA52B4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FC2BE75-FFBF-4BDE-9806-130441A646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E3D1105-EC0E-4424-8649-593DAC9C2C0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3756A62-4CBA-4810-BA92-0CB44D6943A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7ECDD6E-2E28-4DAB-8FF4-36346C813A0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DFE7F77-3CC4-4195-BE7F-4123D928ED2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B79D8AE-C7E8-4886-A40C-DEE5F7FB1C0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0283D59-1B41-4F7B-8770-3766C19B56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0055520" y="273600"/>
            <a:ext cx="152676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anchorCtr="1" vert="eaVert">
            <a:no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609480" y="273240"/>
            <a:ext cx="8534160" cy="5308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5923D31-FF9F-4A75-88F5-A41C31F3262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F5F3354-05A5-450E-B536-2E2F7409E5C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/>
          </a:bodyPr>
          <a:p>
            <a:pPr indent="0" algn="l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FD30C76-ED36-4379-989D-1EEE8F330B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3B30A9A-5025-4F35-89A8-630A9A54965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4C27814-DF06-433B-A305-E396D2710F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0B7A057-1DF8-4084-999B-DDD6A7DA80E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01534EF-19AB-44D0-93E3-55131C0BAB1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6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BF2D1EB-CE5A-4F2B-AE91-060723341B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DE1FCF3-16E3-4F0C-AD8F-E3E995F317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51CD8BC-6CD7-44D4-9C14-45695A8E799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7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FB53F8-0CA4-4DA4-B1A3-792B88B198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EABE048-D8B6-4E89-A81B-EB34A36974D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A2E7F9B-2F06-4CF1-A494-5428B92D6E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8B4B389-F12A-401A-BCE2-C0529F8BC5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72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D6F7B94-595E-435D-AD78-14B4FC522C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57DDB74-C43B-4D77-AB75-428A003E626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324000" algn="l">
              <a:buClr>
                <a:srgbClr val="000000"/>
              </a:buClr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D0ABC81-C73F-409C-8F70-E00C790250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CD7DDD5-4AA9-4732-8B81-81EB549C80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1"/>
          <p:cNvSpPr/>
          <p:nvPr/>
        </p:nvSpPr>
        <p:spPr>
          <a:xfrm>
            <a:off x="640080" y="914400"/>
            <a:ext cx="10972080" cy="7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Фабрика гипотез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914400" y="1737360"/>
            <a:ext cx="1033200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Гибридная агентная система</a:t>
            </a:r>
            <a:br>
              <a:rPr sz="2000"/>
            </a:br>
            <a:r>
              <a:rPr lang="en-US" sz="20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для генерации, обоснования и приоритизации гипотез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ectangle 3"/>
          <p:cNvSpPr/>
          <p:nvPr/>
        </p:nvSpPr>
        <p:spPr>
          <a:xfrm>
            <a:off x="685800" y="2834640"/>
            <a:ext cx="1416600" cy="41076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GraphRAG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ectangle 4"/>
          <p:cNvSpPr/>
          <p:nvPr/>
        </p:nvSpPr>
        <p:spPr>
          <a:xfrm>
            <a:off x="2377440" y="2834640"/>
            <a:ext cx="1416600" cy="41076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Long-Context LLM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5"/>
          <p:cNvSpPr/>
          <p:nvPr/>
        </p:nvSpPr>
        <p:spPr>
          <a:xfrm>
            <a:off x="4069080" y="2834640"/>
            <a:ext cx="1416600" cy="41076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Counterfactual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6"/>
          <p:cNvSpPr/>
          <p:nvPr/>
        </p:nvSpPr>
        <p:spPr>
          <a:xfrm>
            <a:off x="5760720" y="2834640"/>
            <a:ext cx="1416600" cy="41076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Predictive KPI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7"/>
          <p:cNvSpPr/>
          <p:nvPr/>
        </p:nvSpPr>
        <p:spPr>
          <a:xfrm>
            <a:off x="7452360" y="2834640"/>
            <a:ext cx="1416600" cy="41076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Neo4j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8"/>
          <p:cNvSpPr/>
          <p:nvPr/>
        </p:nvSpPr>
        <p:spPr>
          <a:xfrm>
            <a:off x="9144000" y="2834640"/>
            <a:ext cx="1416600" cy="41076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API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9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Норникель AI Hackathon · Фабрика гипотез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0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594360" y="411480"/>
            <a:ext cx="109720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Проблема кейса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"/>
          <p:cNvSpPr/>
          <p:nvPr/>
        </p:nvSpPr>
        <p:spPr>
          <a:xfrm>
            <a:off x="621720" y="932760"/>
            <a:ext cx="1078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На старте НИОКР идеи часто формируются вручную и плохо связаны с историческими данными.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868680" y="16916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1216080" y="16732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Субъективность и зависимость от отдельных экспертов.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868680" y="235008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1216080" y="233172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Низкая связность гипотез с бизнес-эффектом и KPI.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868680" y="300852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8"/>
          <p:cNvSpPr/>
          <p:nvPr/>
        </p:nvSpPr>
        <p:spPr>
          <a:xfrm>
            <a:off x="1216080" y="299016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Неиспользуемые архивы отчетов, экспериментов, патентов и таблиц.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9"/>
          <p:cNvSpPr/>
          <p:nvPr/>
        </p:nvSpPr>
        <p:spPr>
          <a:xfrm>
            <a:off x="868680" y="366660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1216080" y="364860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Нет единого формата оценки новизны, рисков, ресурсов и ожидаемой ценности.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11"/>
          <p:cNvSpPr/>
          <p:nvPr/>
        </p:nvSpPr>
        <p:spPr>
          <a:xfrm>
            <a:off x="868680" y="43250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2"/>
          <p:cNvSpPr/>
          <p:nvPr/>
        </p:nvSpPr>
        <p:spPr>
          <a:xfrm>
            <a:off x="1216080" y="43066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Долгий старт исследовательских проектов.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3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Hypothesis Factory · GraphRAG + LLM + calculators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4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Box 1"/>
          <p:cNvSpPr/>
          <p:nvPr/>
        </p:nvSpPr>
        <p:spPr>
          <a:xfrm>
            <a:off x="594360" y="411480"/>
            <a:ext cx="109720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Идея решения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621720" y="932760"/>
            <a:ext cx="1078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Инструмент превращает разнородную базу знаний в ранжированный список проверяемых гипотез.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868680" y="16916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4"/>
          <p:cNvSpPr/>
          <p:nvPr/>
        </p:nvSpPr>
        <p:spPr>
          <a:xfrm>
            <a:off x="1216080" y="16732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Принимает цель/KPI, ограничения, сырье, оборудование и веса ранжирования.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5"/>
          <p:cNvSpPr/>
          <p:nvPr/>
        </p:nvSpPr>
        <p:spPr>
          <a:xfrm>
            <a:off x="868680" y="235008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6"/>
          <p:cNvSpPr/>
          <p:nvPr/>
        </p:nvSpPr>
        <p:spPr>
          <a:xfrm>
            <a:off x="1216080" y="233172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Загружает PDF/DOCX/Excel/CSV/текст/изображения и извлекает метаданные.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7"/>
          <p:cNvSpPr/>
          <p:nvPr/>
        </p:nvSpPr>
        <p:spPr>
          <a:xfrm>
            <a:off x="868680" y="300852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8"/>
          <p:cNvSpPr/>
          <p:nvPr/>
        </p:nvSpPr>
        <p:spPr>
          <a:xfrm>
            <a:off x="1216080" y="299016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Строит GraphRAG-граф материалов, процессов, свойств, параметров и источников.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9"/>
          <p:cNvSpPr/>
          <p:nvPr/>
        </p:nvSpPr>
        <p:spPr>
          <a:xfrm>
            <a:off x="868680" y="366660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0"/>
          <p:cNvSpPr/>
          <p:nvPr/>
        </p:nvSpPr>
        <p:spPr>
          <a:xfrm>
            <a:off x="1216080" y="364860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Генерирует гипотезы с механизмом влияния, источниками и планом проверки.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1"/>
          <p:cNvSpPr/>
          <p:nvPr/>
        </p:nvSpPr>
        <p:spPr>
          <a:xfrm>
            <a:off x="868680" y="43250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2"/>
          <p:cNvSpPr/>
          <p:nvPr/>
        </p:nvSpPr>
        <p:spPr>
          <a:xfrm>
            <a:off x="1216080" y="43066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Экспортирует результат в PDF/DOCX/JSON/CSV/API и задачи Jira/YouTrack.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3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Hypothesis Factory · GraphRAG + LLM + calculators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4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1"/>
          <p:cNvSpPr/>
          <p:nvPr/>
        </p:nvSpPr>
        <p:spPr>
          <a:xfrm>
            <a:off x="594360" y="411480"/>
            <a:ext cx="109720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Архитектура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2"/>
          <p:cNvSpPr/>
          <p:nvPr/>
        </p:nvSpPr>
        <p:spPr>
          <a:xfrm>
            <a:off x="621720" y="932760"/>
            <a:ext cx="1078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Гибридный агентный пайплайн с трассировкой каждого шага.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3"/>
          <p:cNvSpPr/>
          <p:nvPr/>
        </p:nvSpPr>
        <p:spPr>
          <a:xfrm>
            <a:off x="502920" y="2240280"/>
            <a:ext cx="1645200" cy="1050840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TextBox 4"/>
          <p:cNvSpPr/>
          <p:nvPr/>
        </p:nvSpPr>
        <p:spPr>
          <a:xfrm>
            <a:off x="612720" y="2386440"/>
            <a:ext cx="1425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Ingestion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5"/>
          <p:cNvSpPr/>
          <p:nvPr/>
        </p:nvSpPr>
        <p:spPr>
          <a:xfrm>
            <a:off x="612720" y="2743200"/>
            <a:ext cx="1425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OCR + metadata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6"/>
          <p:cNvSpPr/>
          <p:nvPr/>
        </p:nvSpPr>
        <p:spPr>
          <a:xfrm>
            <a:off x="2130480" y="2697480"/>
            <a:ext cx="319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→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7"/>
          <p:cNvSpPr/>
          <p:nvPr/>
        </p:nvSpPr>
        <p:spPr>
          <a:xfrm>
            <a:off x="2404800" y="2240280"/>
            <a:ext cx="1645200" cy="1050840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TextBox 8"/>
          <p:cNvSpPr/>
          <p:nvPr/>
        </p:nvSpPr>
        <p:spPr>
          <a:xfrm>
            <a:off x="2514600" y="2386440"/>
            <a:ext cx="1425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Retrieval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9"/>
          <p:cNvSpPr/>
          <p:nvPr/>
        </p:nvSpPr>
        <p:spPr>
          <a:xfrm>
            <a:off x="2514600" y="2743200"/>
            <a:ext cx="1425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Hashing RAG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0"/>
          <p:cNvSpPr/>
          <p:nvPr/>
        </p:nvSpPr>
        <p:spPr>
          <a:xfrm>
            <a:off x="4032360" y="2697480"/>
            <a:ext cx="319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→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Rectangle 11"/>
          <p:cNvSpPr/>
          <p:nvPr/>
        </p:nvSpPr>
        <p:spPr>
          <a:xfrm>
            <a:off x="4306680" y="2240280"/>
            <a:ext cx="1645200" cy="1050840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12"/>
          <p:cNvSpPr/>
          <p:nvPr/>
        </p:nvSpPr>
        <p:spPr>
          <a:xfrm>
            <a:off x="4416480" y="2386440"/>
            <a:ext cx="1425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GraphRAG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3"/>
          <p:cNvSpPr/>
          <p:nvPr/>
        </p:nvSpPr>
        <p:spPr>
          <a:xfrm>
            <a:off x="4416480" y="2743200"/>
            <a:ext cx="14256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entities + paths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4"/>
          <p:cNvSpPr/>
          <p:nvPr/>
        </p:nvSpPr>
        <p:spPr>
          <a:xfrm>
            <a:off x="5934600" y="2697480"/>
            <a:ext cx="319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→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15"/>
          <p:cNvSpPr/>
          <p:nvPr/>
        </p:nvSpPr>
        <p:spPr>
          <a:xfrm>
            <a:off x="6208920" y="2240280"/>
            <a:ext cx="1645200" cy="105084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16"/>
          <p:cNvSpPr/>
          <p:nvPr/>
        </p:nvSpPr>
        <p:spPr>
          <a:xfrm>
            <a:off x="6318360" y="2386440"/>
            <a:ext cx="1425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Hypotheses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7"/>
          <p:cNvSpPr/>
          <p:nvPr/>
        </p:nvSpPr>
        <p:spPr>
          <a:xfrm>
            <a:off x="6318360" y="2743200"/>
            <a:ext cx="14256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candidate generation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8"/>
          <p:cNvSpPr/>
          <p:nvPr/>
        </p:nvSpPr>
        <p:spPr>
          <a:xfrm>
            <a:off x="7836480" y="2697480"/>
            <a:ext cx="319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→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19"/>
          <p:cNvSpPr/>
          <p:nvPr/>
        </p:nvSpPr>
        <p:spPr>
          <a:xfrm>
            <a:off x="8110800" y="2240280"/>
            <a:ext cx="1645200" cy="105084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TextBox 20"/>
          <p:cNvSpPr/>
          <p:nvPr/>
        </p:nvSpPr>
        <p:spPr>
          <a:xfrm>
            <a:off x="8220600" y="2386440"/>
            <a:ext cx="1425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Checks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21"/>
          <p:cNvSpPr/>
          <p:nvPr/>
        </p:nvSpPr>
        <p:spPr>
          <a:xfrm>
            <a:off x="8220600" y="2743200"/>
            <a:ext cx="14256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counterfactual + KPI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22"/>
          <p:cNvSpPr/>
          <p:nvPr/>
        </p:nvSpPr>
        <p:spPr>
          <a:xfrm>
            <a:off x="9738360" y="2697480"/>
            <a:ext cx="31932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→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23"/>
          <p:cNvSpPr/>
          <p:nvPr/>
        </p:nvSpPr>
        <p:spPr>
          <a:xfrm>
            <a:off x="10012680" y="2240280"/>
            <a:ext cx="1645200" cy="1050840"/>
          </a:xfrm>
          <a:prstGeom prst="rect">
            <a:avLst/>
          </a:prstGeom>
          <a:solidFill>
            <a:srgbClr val="191F2D"/>
          </a:solidFill>
          <a:ln>
            <a:solidFill>
              <a:srgbClr val="FF525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24"/>
          <p:cNvSpPr/>
          <p:nvPr/>
        </p:nvSpPr>
        <p:spPr>
          <a:xfrm>
            <a:off x="10122480" y="2386440"/>
            <a:ext cx="14256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Outputs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25"/>
          <p:cNvSpPr/>
          <p:nvPr/>
        </p:nvSpPr>
        <p:spPr>
          <a:xfrm>
            <a:off x="10122480" y="2743200"/>
            <a:ext cx="14256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reports + API + tasks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Rectangle 26"/>
          <p:cNvSpPr/>
          <p:nvPr/>
        </p:nvSpPr>
        <p:spPr>
          <a:xfrm>
            <a:off x="914400" y="4846320"/>
            <a:ext cx="10332000" cy="79344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27"/>
          <p:cNvSpPr/>
          <p:nvPr/>
        </p:nvSpPr>
        <p:spPr>
          <a:xfrm>
            <a:off x="1143000" y="5001840"/>
            <a:ext cx="98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Neo4j хранит граф, YandexGPT получает long-context, Jira/YouTrack получают проверяемые задачи.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28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Hypothesis Factory · GraphRAG + LLM + calculators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29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Box 1"/>
          <p:cNvSpPr/>
          <p:nvPr/>
        </p:nvSpPr>
        <p:spPr>
          <a:xfrm>
            <a:off x="594360" y="411480"/>
            <a:ext cx="109720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Данные и предобработка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2"/>
          <p:cNvSpPr/>
          <p:nvPr/>
        </p:nvSpPr>
        <p:spPr>
          <a:xfrm>
            <a:off x="621720" y="932760"/>
            <a:ext cx="1078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Система рассчитана на неполные, шумные и мультиязычные источники.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3"/>
          <p:cNvSpPr/>
          <p:nvPr/>
        </p:nvSpPr>
        <p:spPr>
          <a:xfrm>
            <a:off x="868680" y="16916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4"/>
          <p:cNvSpPr/>
          <p:nvPr/>
        </p:nvSpPr>
        <p:spPr>
          <a:xfrm>
            <a:off x="1216080" y="16732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Форматы: txt, md, pdf, docx, csv, xlsx, png, jpg, jpeg, webp.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5"/>
          <p:cNvSpPr/>
          <p:nvPr/>
        </p:nvSpPr>
        <p:spPr>
          <a:xfrm>
            <a:off x="868680" y="235008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Box 6"/>
          <p:cNvSpPr/>
          <p:nvPr/>
        </p:nvSpPr>
        <p:spPr>
          <a:xfrm>
            <a:off x="1216080" y="233172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OCR: русский, английский, китайский; есть timeout и fallback для демо.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7"/>
          <p:cNvSpPr/>
          <p:nvPr/>
        </p:nvSpPr>
        <p:spPr>
          <a:xfrm>
            <a:off x="868680" y="300852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8"/>
          <p:cNvSpPr/>
          <p:nvPr/>
        </p:nvSpPr>
        <p:spPr>
          <a:xfrm>
            <a:off x="1216080" y="299016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Метаданные: даты, авторы, pH, температура, проценты, крупность частиц.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9"/>
          <p:cNvSpPr/>
          <p:nvPr/>
        </p:nvSpPr>
        <p:spPr>
          <a:xfrm>
            <a:off x="868680" y="366660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0"/>
          <p:cNvSpPr/>
          <p:nvPr/>
        </p:nvSpPr>
        <p:spPr>
          <a:xfrm>
            <a:off x="1216080" y="364860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Нормализация терминов: tailings/flotation/</a:t>
            </a:r>
            <a:r>
              <a:rPr lang="zh-CN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尾矿</a:t>
            </a: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/</a:t>
            </a:r>
            <a:r>
              <a:rPr lang="zh-CN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浮选 </a:t>
            </a: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-&gt; русская онтология.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11"/>
          <p:cNvSpPr/>
          <p:nvPr/>
        </p:nvSpPr>
        <p:spPr>
          <a:xfrm>
            <a:off x="868680" y="43250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2"/>
          <p:cNvSpPr/>
          <p:nvPr/>
        </p:nvSpPr>
        <p:spPr>
          <a:xfrm>
            <a:off x="1216080" y="43066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HashingVectorizer устойчив к пустым словарям и шумным документам.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13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Hypothesis Factory · GraphRAG + LLM + calculators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14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/>
          <p:nvPr/>
        </p:nvSpPr>
        <p:spPr>
          <a:xfrm>
            <a:off x="594360" y="411480"/>
            <a:ext cx="109720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Генерация и проверка гипотез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2"/>
          <p:cNvSpPr/>
          <p:nvPr/>
        </p:nvSpPr>
        <p:spPr>
          <a:xfrm>
            <a:off x="621720" y="932760"/>
            <a:ext cx="1078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Пайплайн не просто пишет текст, а оставляет проверяемый след рассуждения.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3"/>
          <p:cNvSpPr/>
          <p:nvPr/>
        </p:nvSpPr>
        <p:spPr>
          <a:xfrm>
            <a:off x="868680" y="16916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4"/>
          <p:cNvSpPr/>
          <p:nvPr/>
        </p:nvSpPr>
        <p:spPr>
          <a:xfrm>
            <a:off x="1216080" y="16732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HypothesisAgent формирует кандидатов из факторов, процессов и целевых свойств.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5"/>
          <p:cNvSpPr/>
          <p:nvPr/>
        </p:nvSpPr>
        <p:spPr>
          <a:xfrm>
            <a:off x="868680" y="235008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1216080" y="233172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CounterfactualAgent сравнивает baseline, сценарий без фактора и альтернативный процесс.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868680" y="300852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8"/>
          <p:cNvSpPr/>
          <p:nvPr/>
        </p:nvSpPr>
        <p:spPr>
          <a:xfrm>
            <a:off x="1216080" y="299016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PredictiveKPIAgent использует RandomForest surrogate для оценки normalized KPI uplift.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9"/>
          <p:cNvSpPr/>
          <p:nvPr/>
        </p:nvSpPr>
        <p:spPr>
          <a:xfrm>
            <a:off x="868680" y="366660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10"/>
          <p:cNvSpPr/>
          <p:nvPr/>
        </p:nvSpPr>
        <p:spPr>
          <a:xfrm>
            <a:off x="1216080" y="3648600"/>
            <a:ext cx="10240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CalculatorAgent проверяет оборудование, стоимость, KPI-эффект, баланс процесса и термоокно.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11"/>
          <p:cNvSpPr/>
          <p:nvPr/>
        </p:nvSpPr>
        <p:spPr>
          <a:xfrm>
            <a:off x="868680" y="43250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12"/>
          <p:cNvSpPr/>
          <p:nvPr/>
        </p:nvSpPr>
        <p:spPr>
          <a:xfrm>
            <a:off x="1216080" y="43066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NoveltyAgent делает preliminary screening по Crossref, Semantic Scholar и PatentsView.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13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Hypothesis Factory · GraphRAG + LLM + calculators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14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Box 1"/>
          <p:cNvSpPr/>
          <p:nvPr/>
        </p:nvSpPr>
        <p:spPr>
          <a:xfrm>
            <a:off x="594360" y="411480"/>
            <a:ext cx="109720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Объяснимость и ранжирование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2"/>
          <p:cNvSpPr/>
          <p:nvPr/>
        </p:nvSpPr>
        <p:spPr>
          <a:xfrm>
            <a:off x="621720" y="932760"/>
            <a:ext cx="1078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3"/>
          <p:cNvSpPr/>
          <p:nvPr/>
        </p:nvSpPr>
        <p:spPr>
          <a:xfrm>
            <a:off x="868680" y="16916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4"/>
          <p:cNvSpPr/>
          <p:nvPr/>
        </p:nvSpPr>
        <p:spPr>
          <a:xfrm>
            <a:off x="1216080" y="16732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Score: novelty, feasibility, expected value, risk, confidence.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868680" y="235008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6"/>
          <p:cNvSpPr/>
          <p:nvPr/>
        </p:nvSpPr>
        <p:spPr>
          <a:xfrm>
            <a:off x="1216080" y="233172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Карточка: формулировка, механизм, источники, цитаты, риски, ресурсы, план эксперимента.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7"/>
          <p:cNvSpPr/>
          <p:nvPr/>
        </p:nvSpPr>
        <p:spPr>
          <a:xfrm>
            <a:off x="868680" y="300852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8"/>
          <p:cNvSpPr/>
          <p:nvPr/>
        </p:nvSpPr>
        <p:spPr>
          <a:xfrm>
            <a:off x="1216080" y="299016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GraphRAG показывает связанные узлы и объяснимые пути в графе.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9"/>
          <p:cNvSpPr/>
          <p:nvPr/>
        </p:nvSpPr>
        <p:spPr>
          <a:xfrm>
            <a:off x="868680" y="366660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10"/>
          <p:cNvSpPr/>
          <p:nvPr/>
        </p:nvSpPr>
        <p:spPr>
          <a:xfrm>
            <a:off x="1216080" y="364860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Feedback learning: экспертные оценки обучают ML-реранкер для следующих запусков.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11"/>
          <p:cNvSpPr/>
          <p:nvPr/>
        </p:nvSpPr>
        <p:spPr>
          <a:xfrm>
            <a:off x="868680" y="43250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12"/>
          <p:cNvSpPr/>
          <p:nvPr/>
        </p:nvSpPr>
        <p:spPr>
          <a:xfrm>
            <a:off x="1216080" y="4306680"/>
            <a:ext cx="10240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Long-context пакет передается в YandexGPT как экспертный слой, не заменяя базовый scoring.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13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Hypothesis Factory · GraphRAG + LLM + calculators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14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extBox 1"/>
          <p:cNvSpPr/>
          <p:nvPr/>
        </p:nvSpPr>
        <p:spPr>
          <a:xfrm>
            <a:off x="594360" y="411480"/>
            <a:ext cx="109720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Интеграции и развертывание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2"/>
          <p:cNvSpPr/>
          <p:nvPr/>
        </p:nvSpPr>
        <p:spPr>
          <a:xfrm>
            <a:off x="621720" y="932760"/>
            <a:ext cx="1078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Решение готово к встраиванию в исследовательский процесс.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3"/>
          <p:cNvSpPr/>
          <p:nvPr/>
        </p:nvSpPr>
        <p:spPr>
          <a:xfrm>
            <a:off x="868680" y="16916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Box 4"/>
          <p:cNvSpPr/>
          <p:nvPr/>
        </p:nvSpPr>
        <p:spPr>
          <a:xfrm>
            <a:off x="1216080" y="16732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Публичный UI: https://hackaton.baxic.ru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5"/>
          <p:cNvSpPr/>
          <p:nvPr/>
        </p:nvSpPr>
        <p:spPr>
          <a:xfrm>
            <a:off x="868680" y="235008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6"/>
          <p:cNvSpPr/>
          <p:nvPr/>
        </p:nvSpPr>
        <p:spPr>
          <a:xfrm>
            <a:off x="1216080" y="233172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API + Swagger: https://hypothesisapi.baxic.ru/docs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7"/>
          <p:cNvSpPr/>
          <p:nvPr/>
        </p:nvSpPr>
        <p:spPr>
          <a:xfrm>
            <a:off x="868680" y="300852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8"/>
          <p:cNvSpPr/>
          <p:nvPr/>
        </p:nvSpPr>
        <p:spPr>
          <a:xfrm>
            <a:off x="1216080" y="299016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Docker Compose: Streamlit, FastAPI, Neo4j.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9"/>
          <p:cNvSpPr/>
          <p:nvPr/>
        </p:nvSpPr>
        <p:spPr>
          <a:xfrm>
            <a:off x="868680" y="366660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10"/>
          <p:cNvSpPr/>
          <p:nvPr/>
        </p:nvSpPr>
        <p:spPr>
          <a:xfrm>
            <a:off x="1216080" y="364860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Graph storage: JSON, GraphML, RDF/Turtle, Neo4j sync/query.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11"/>
          <p:cNvSpPr/>
          <p:nvPr/>
        </p:nvSpPr>
        <p:spPr>
          <a:xfrm>
            <a:off x="868680" y="43250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1216080" y="43066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Jira/YouTrack: создание задач из гипотез; role-based token auth для UI/API.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3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Hypothesis Factory · GraphRAG + LLM + calculators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4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594360" y="411480"/>
            <a:ext cx="109720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Покрытие требований кейса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2"/>
          <p:cNvSpPr/>
          <p:nvPr/>
        </p:nvSpPr>
        <p:spPr>
          <a:xfrm>
            <a:off x="621720" y="932760"/>
            <a:ext cx="1078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Ключевые требования закрыты на уровне хакатонного MVP.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Rectangle 3"/>
          <p:cNvSpPr/>
          <p:nvPr/>
        </p:nvSpPr>
        <p:spPr>
          <a:xfrm>
            <a:off x="868680" y="1691640"/>
            <a:ext cx="4799880" cy="91368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4"/>
          <p:cNvSpPr/>
          <p:nvPr/>
        </p:nvSpPr>
        <p:spPr>
          <a:xfrm>
            <a:off x="978480" y="1837800"/>
            <a:ext cx="4580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Полезность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978480" y="2194560"/>
            <a:ext cx="45802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проверяемые гипотезы + план эксперимента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Rectangle 6"/>
          <p:cNvSpPr/>
          <p:nvPr/>
        </p:nvSpPr>
        <p:spPr>
          <a:xfrm>
            <a:off x="6355080" y="1691640"/>
            <a:ext cx="4799880" cy="91368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" name="TextBox 7"/>
          <p:cNvSpPr/>
          <p:nvPr/>
        </p:nvSpPr>
        <p:spPr>
          <a:xfrm>
            <a:off x="6464880" y="1837800"/>
            <a:ext cx="4580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Прозрачность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8"/>
          <p:cNvSpPr/>
          <p:nvPr/>
        </p:nvSpPr>
        <p:spPr>
          <a:xfrm>
            <a:off x="6464880" y="2194560"/>
            <a:ext cx="45802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источники + GraphRAG + расчеты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9"/>
          <p:cNvSpPr/>
          <p:nvPr/>
        </p:nvSpPr>
        <p:spPr>
          <a:xfrm>
            <a:off x="868680" y="3017520"/>
            <a:ext cx="4799880" cy="91368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10"/>
          <p:cNvSpPr/>
          <p:nvPr/>
        </p:nvSpPr>
        <p:spPr>
          <a:xfrm>
            <a:off x="978480" y="3163680"/>
            <a:ext cx="4580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Гибкость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11"/>
          <p:cNvSpPr/>
          <p:nvPr/>
        </p:nvSpPr>
        <p:spPr>
          <a:xfrm>
            <a:off x="978480" y="3520440"/>
            <a:ext cx="45802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разные форматы + OCR + metadata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Rectangle 12"/>
          <p:cNvSpPr/>
          <p:nvPr/>
        </p:nvSpPr>
        <p:spPr>
          <a:xfrm>
            <a:off x="6355080" y="3017520"/>
            <a:ext cx="4799880" cy="91368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6464880" y="3163680"/>
            <a:ext cx="4580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Масштабируемость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6464880" y="3520440"/>
            <a:ext cx="45802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модули + Neo4j/RDF/GraphML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ectangle 15"/>
          <p:cNvSpPr/>
          <p:nvPr/>
        </p:nvSpPr>
        <p:spPr>
          <a:xfrm>
            <a:off x="868680" y="4343400"/>
            <a:ext cx="4799880" cy="91368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TextBox 16"/>
          <p:cNvSpPr/>
          <p:nvPr/>
        </p:nvSpPr>
        <p:spPr>
          <a:xfrm>
            <a:off x="978480" y="4489560"/>
            <a:ext cx="4580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Интеграция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17"/>
          <p:cNvSpPr/>
          <p:nvPr/>
        </p:nvSpPr>
        <p:spPr>
          <a:xfrm>
            <a:off x="978480" y="4846320"/>
            <a:ext cx="45802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PDF/DOCX/API/Jira/YouTrack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Rectangle 18"/>
          <p:cNvSpPr/>
          <p:nvPr/>
        </p:nvSpPr>
        <p:spPr>
          <a:xfrm>
            <a:off x="6355080" y="4343400"/>
            <a:ext cx="4799880" cy="91368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19"/>
          <p:cNvSpPr/>
          <p:nvPr/>
        </p:nvSpPr>
        <p:spPr>
          <a:xfrm>
            <a:off x="6464880" y="4489560"/>
            <a:ext cx="45802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Безопасность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20"/>
          <p:cNvSpPr/>
          <p:nvPr/>
        </p:nvSpPr>
        <p:spPr>
          <a:xfrm>
            <a:off x="6464880" y="4846320"/>
            <a:ext cx="45802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Docker + tokens + роли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21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Hypothesis Factory · GraphRAG + LLM + calculators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22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TextBox 1"/>
          <p:cNvSpPr/>
          <p:nvPr/>
        </p:nvSpPr>
        <p:spPr>
          <a:xfrm>
            <a:off x="594360" y="411480"/>
            <a:ext cx="1097208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Почему это сильное решение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2"/>
          <p:cNvSpPr/>
          <p:nvPr/>
        </p:nvSpPr>
        <p:spPr>
          <a:xfrm>
            <a:off x="621720" y="932760"/>
            <a:ext cx="1078920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3"/>
          <p:cNvSpPr/>
          <p:nvPr/>
        </p:nvSpPr>
        <p:spPr>
          <a:xfrm>
            <a:off x="868680" y="16916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4"/>
          <p:cNvSpPr/>
          <p:nvPr/>
        </p:nvSpPr>
        <p:spPr>
          <a:xfrm>
            <a:off x="1216080" y="16732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Это не RAG-чат, а end-to-end research workflow.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5"/>
          <p:cNvSpPr/>
          <p:nvPr/>
        </p:nvSpPr>
        <p:spPr>
          <a:xfrm>
            <a:off x="868680" y="235008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6"/>
          <p:cNvSpPr/>
          <p:nvPr/>
        </p:nvSpPr>
        <p:spPr>
          <a:xfrm>
            <a:off x="1216080" y="2331720"/>
            <a:ext cx="102405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Покрывает путь: данные -&gt; GraphRAG -&gt; гипотезы -&gt; проверки -&gt; feedback -&gt; отчеты/API/tasks.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7"/>
          <p:cNvSpPr/>
          <p:nvPr/>
        </p:nvSpPr>
        <p:spPr>
          <a:xfrm>
            <a:off x="868680" y="300852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8"/>
          <p:cNvSpPr/>
          <p:nvPr/>
        </p:nvSpPr>
        <p:spPr>
          <a:xfrm>
            <a:off x="1216080" y="299016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Работает локально и безопасно для конфиденциальных данных.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9"/>
          <p:cNvSpPr/>
          <p:nvPr/>
        </p:nvSpPr>
        <p:spPr>
          <a:xfrm>
            <a:off x="868680" y="366660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10"/>
          <p:cNvSpPr/>
          <p:nvPr/>
        </p:nvSpPr>
        <p:spPr>
          <a:xfrm>
            <a:off x="1216080" y="364860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Модульная архитектура расширяется на новые предметные области.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11"/>
          <p:cNvSpPr/>
          <p:nvPr/>
        </p:nvSpPr>
        <p:spPr>
          <a:xfrm>
            <a:off x="868680" y="4325040"/>
            <a:ext cx="227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525C"/>
                </a:solidFill>
                <a:effectLst/>
                <a:uFillTx/>
                <a:latin typeface="Arial"/>
              </a:rPr>
              <a:t>•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12"/>
          <p:cNvSpPr/>
          <p:nvPr/>
        </p:nvSpPr>
        <p:spPr>
          <a:xfrm>
            <a:off x="1216080" y="4306680"/>
            <a:ext cx="10240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Готово для MVP-использования и промышленного развития.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Rectangle 13"/>
          <p:cNvSpPr/>
          <p:nvPr/>
        </p:nvSpPr>
        <p:spPr>
          <a:xfrm>
            <a:off x="960480" y="5578200"/>
            <a:ext cx="10469160" cy="70164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14"/>
          <p:cNvSpPr/>
          <p:nvPr/>
        </p:nvSpPr>
        <p:spPr>
          <a:xfrm>
            <a:off x="1097280" y="5641920"/>
            <a:ext cx="10011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GraphRAG + Long-Context LLM + Counterfactual + Predictive KPI + Novelty + Feedback Learning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15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Hypothesis Factory · GraphRAG + LLM + calculators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16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E12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extBox 1"/>
          <p:cNvSpPr/>
          <p:nvPr/>
        </p:nvSpPr>
        <p:spPr>
          <a:xfrm>
            <a:off x="640080" y="1234440"/>
            <a:ext cx="1097208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200" b="1" u="none" strike="noStrike">
                <a:solidFill>
                  <a:srgbClr val="F5F7FA"/>
                </a:solidFill>
                <a:effectLst/>
                <a:uFillTx/>
                <a:latin typeface="Arial"/>
              </a:rPr>
              <a:t>Спасибо за внимание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2"/>
          <p:cNvSpPr/>
          <p:nvPr/>
        </p:nvSpPr>
        <p:spPr>
          <a:xfrm>
            <a:off x="685800" y="2057400"/>
            <a:ext cx="107892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1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Фабрика гипотез для ускорения старта НИОКР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Rectangle 3"/>
          <p:cNvSpPr/>
          <p:nvPr/>
        </p:nvSpPr>
        <p:spPr>
          <a:xfrm>
            <a:off x="1828800" y="3154680"/>
            <a:ext cx="8503200" cy="566280"/>
          </a:xfrm>
          <a:prstGeom prst="rect">
            <a:avLst/>
          </a:prstGeom>
          <a:solidFill>
            <a:srgbClr val="191F2D"/>
          </a:solidFill>
          <a:ln>
            <a:solidFill>
              <a:srgbClr val="3DDC9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2" name="TextBox 4"/>
          <p:cNvSpPr/>
          <p:nvPr/>
        </p:nvSpPr>
        <p:spPr>
          <a:xfrm>
            <a:off x="2057400" y="3310200"/>
            <a:ext cx="804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U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I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: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 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h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t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t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p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s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: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/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/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h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a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c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k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a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t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o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n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.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b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a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x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i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c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.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r</a:t>
            </a:r>
            <a:r>
              <a:rPr lang="en-US" sz="1800" b="1" u="none" strike="noStrike">
                <a:solidFill>
                  <a:srgbClr val="3DDC97"/>
                </a:solidFill>
                <a:effectLst/>
                <a:uFillTx/>
                <a:latin typeface="Arial"/>
              </a:rPr>
              <a:t>u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Rectangle 5"/>
          <p:cNvSpPr/>
          <p:nvPr/>
        </p:nvSpPr>
        <p:spPr>
          <a:xfrm>
            <a:off x="1828800" y="3886200"/>
            <a:ext cx="8503200" cy="566280"/>
          </a:xfrm>
          <a:prstGeom prst="rect">
            <a:avLst/>
          </a:prstGeom>
          <a:solidFill>
            <a:srgbClr val="191F2D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4" name="TextBox 6"/>
          <p:cNvSpPr/>
          <p:nvPr/>
        </p:nvSpPr>
        <p:spPr>
          <a:xfrm>
            <a:off x="2057400" y="4041720"/>
            <a:ext cx="8046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API Docs: https://hypothesisapi.baxic.ru/docs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7"/>
          <p:cNvSpPr/>
          <p:nvPr/>
        </p:nvSpPr>
        <p:spPr>
          <a:xfrm>
            <a:off x="594360" y="6446520"/>
            <a:ext cx="777168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Норникель AI Hackathon · Hypothesis Factory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8"/>
          <p:cNvSpPr/>
          <p:nvPr/>
        </p:nvSpPr>
        <p:spPr>
          <a:xfrm>
            <a:off x="9189720" y="6446520"/>
            <a:ext cx="23767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AAB2C4"/>
                </a:solidFill>
                <a:effectLst/>
                <a:uFillTx/>
                <a:latin typeface="Arial"/>
              </a:rPr>
              <a:t>https://hackaton.baxic.ru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2851920" y="4572000"/>
            <a:ext cx="4463280" cy="14896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_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U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_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K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N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=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c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k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n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2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0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2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6</a:t>
            </a:r>
            <a:endParaRPr lang="en-US" sz="1000" b="0" u="none" strike="noStrike">
              <a:solidFill>
                <a:srgbClr val="EEEEEE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_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U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_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K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N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=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f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2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0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2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6</a:t>
            </a:r>
            <a:endParaRPr lang="en-US" sz="1000" b="0" u="none" strike="noStrike">
              <a:solidFill>
                <a:srgbClr val="EEEEEE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_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K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N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S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=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v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w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: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v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w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,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x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: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x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,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n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: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n</a:t>
            </a:r>
            <a:endParaRPr lang="en-US" sz="1000" b="0" u="none" strike="noStrike">
              <a:solidFill>
                <a:srgbClr val="EEEEEE"/>
              </a:solidFill>
              <a:effectLst/>
              <a:uFillTx/>
              <a:latin typeface="Arial"/>
            </a:endParaRPr>
          </a:p>
          <a:p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_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K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N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S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=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s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c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: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s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c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,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n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-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o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: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d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</a:t>
            </a:r>
            <a:r>
              <a:rPr lang="en-US" sz="10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n</a:t>
            </a:r>
            <a:endParaRPr lang="en-US" sz="1000" b="0" u="none" strike="noStrike">
              <a:solidFill>
                <a:srgbClr val="EEEEEE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Application>LibreOffice/26.2.4.2$Linux_X86_64 LibreOffice_project/3346a99e6b841765b75a9b29714a5b95c6761ce3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2026-07-04T12:03:01Z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