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11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C923383E-0253-42AB-9587-A5B57A6B83F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3EFE7542-5EBD-4253-BACD-84D0B06D4BE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A8B9E3BE-1DCC-4CCB-970E-8A30215B4D2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D1F12A88-DF8C-4BCA-A727-2F6AEE344D3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EA49CCE8-B7DD-4ADC-B18C-E2F3C2BFEFA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F46E1E2D-BE18-4F52-97FA-B5EC257B392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F9368F89-1811-403B-80D4-9E18EB90241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p>
            <a:fld id="{DABF7F6D-6104-4910-B0CA-DFB31C3E225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675AF2A1-9CAD-434B-9069-9CA23439D40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1BDFB6A0-9B12-4FB3-892E-45DA5A5E117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3"/>
          </p:nvPr>
        </p:nvSpPr>
        <p:spPr/>
        <p:txBody>
          <a:bodyPr/>
          <a:p>
            <a:fld id="{DEF3E29D-6FCF-4DAB-AE98-F6BF1A23AE9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BB13D1F-197F-4AB3-9624-BB97316350D9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0E72E52-5C14-42B5-B470-DBBF93AB355F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4ED67D7-FF1B-485A-9AA0-67C7C91661BB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F964178-0D78-48F3-9A68-8BDBC98A14F3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Click to edit Master text styles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5247339-E1A4-4D2E-9A72-0CE06B00B63C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74D6227-923A-46E1-B5D9-46C8D1F474B2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2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3913E01-2637-46C1-9DD9-7CB30F9BA2C5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0401483-CC15-472C-A2B2-3AD9D2757A5C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1916C42-DB92-4531-83B9-763D1924DD88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B1959F4-EA16-4172-9B9A-4A3318B3CC1C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401CB2C-AB2E-4C85-B101-161FC6A231F8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e12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TextBox 1"/>
          <p:cNvSpPr/>
          <p:nvPr/>
        </p:nvSpPr>
        <p:spPr>
          <a:xfrm>
            <a:off x="640080" y="914400"/>
            <a:ext cx="10972440" cy="75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4400" spc="-1" strike="noStrike">
                <a:solidFill>
                  <a:srgbClr val="f5f7fa"/>
                </a:solidFill>
                <a:latin typeface="Arial"/>
              </a:rPr>
              <a:t>	</a:t>
            </a:r>
            <a:r>
              <a:rPr b="1" lang="en-US" sz="4400" spc="-1" strike="noStrike">
                <a:solidFill>
                  <a:srgbClr val="f5f7fa"/>
                </a:solidFill>
                <a:latin typeface="Arial"/>
              </a:rPr>
              <a:t>	</a:t>
            </a:r>
            <a:r>
              <a:rPr b="1" lang="en-US" sz="4400" spc="-1" strike="noStrike">
                <a:solidFill>
                  <a:srgbClr val="f5f7fa"/>
                </a:solidFill>
                <a:latin typeface="Arial"/>
              </a:rPr>
              <a:t>	</a:t>
            </a:r>
            <a:r>
              <a:rPr b="1" lang="en-US" sz="4400" spc="-1" strike="noStrike">
                <a:solidFill>
                  <a:srgbClr val="f5f7fa"/>
                </a:solidFill>
                <a:latin typeface="Arial"/>
              </a:rPr>
              <a:t>	</a:t>
            </a:r>
            <a:r>
              <a:rPr b="1" lang="en-US" sz="4400" spc="-1" strike="noStrike">
                <a:solidFill>
                  <a:srgbClr val="f5f7fa"/>
                </a:solidFill>
                <a:latin typeface="Arial"/>
              </a:rPr>
              <a:t>	</a:t>
            </a:r>
            <a:r>
              <a:rPr b="1" lang="en-US" sz="4400" spc="-1" strike="noStrike">
                <a:solidFill>
                  <a:srgbClr val="f5f7fa"/>
                </a:solidFill>
                <a:latin typeface="Arial"/>
              </a:rPr>
              <a:t>	</a:t>
            </a:r>
            <a:r>
              <a:rPr b="1" lang="en-US" sz="4400" spc="-1" strike="noStrike">
                <a:solidFill>
                  <a:srgbClr val="f5f7fa"/>
                </a:solidFill>
                <a:latin typeface="Arial"/>
              </a:rPr>
              <a:t>Фабрика гипотез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" name="TextBox 2"/>
          <p:cNvSpPr/>
          <p:nvPr/>
        </p:nvSpPr>
        <p:spPr>
          <a:xfrm>
            <a:off x="914400" y="1737360"/>
            <a:ext cx="10332360" cy="69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2000" spc="-1" strike="noStrike">
                <a:solidFill>
                  <a:srgbClr val="aab2c4"/>
                </a:solidFill>
                <a:latin typeface="Arial"/>
              </a:rPr>
              <a:t>Гибридная агентная система</a:t>
            </a:r>
            <a:br>
              <a:rPr sz="2000"/>
            </a:br>
            <a:r>
              <a:rPr b="0" lang="en-US" sz="2000" spc="-1" strike="noStrike">
                <a:solidFill>
                  <a:srgbClr val="aab2c4"/>
                </a:solidFill>
                <a:latin typeface="Arial"/>
              </a:rPr>
              <a:t>для генерации, обоснования и приоритизации гипотез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" name="Rectangle 3"/>
          <p:cNvSpPr/>
          <p:nvPr/>
        </p:nvSpPr>
        <p:spPr>
          <a:xfrm>
            <a:off x="685800" y="2834640"/>
            <a:ext cx="1416960" cy="411120"/>
          </a:xfrm>
          <a:prstGeom prst="rect">
            <a:avLst/>
          </a:prstGeom>
          <a:solidFill>
            <a:srgbClr val="191f2d"/>
          </a:solidFill>
          <a:ln>
            <a:solidFill>
              <a:srgbClr val="ff52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5f7fa"/>
                </a:solidFill>
                <a:latin typeface="Arial"/>
              </a:rPr>
              <a:t>GraphRAG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" name="Rectangle 4"/>
          <p:cNvSpPr/>
          <p:nvPr/>
        </p:nvSpPr>
        <p:spPr>
          <a:xfrm>
            <a:off x="2377440" y="2834640"/>
            <a:ext cx="1416960" cy="411120"/>
          </a:xfrm>
          <a:prstGeom prst="rect">
            <a:avLst/>
          </a:prstGeom>
          <a:solidFill>
            <a:srgbClr val="191f2d"/>
          </a:solidFill>
          <a:ln>
            <a:solidFill>
              <a:srgbClr val="ff52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5f7fa"/>
                </a:solidFill>
                <a:latin typeface="Arial"/>
              </a:rPr>
              <a:t>Long-Context LLM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" name="Rectangle 5"/>
          <p:cNvSpPr/>
          <p:nvPr/>
        </p:nvSpPr>
        <p:spPr>
          <a:xfrm>
            <a:off x="4069080" y="2834640"/>
            <a:ext cx="1416960" cy="411120"/>
          </a:xfrm>
          <a:prstGeom prst="rect">
            <a:avLst/>
          </a:prstGeom>
          <a:solidFill>
            <a:srgbClr val="191f2d"/>
          </a:solidFill>
          <a:ln>
            <a:solidFill>
              <a:srgbClr val="ff52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5f7fa"/>
                </a:solidFill>
                <a:latin typeface="Arial"/>
              </a:rPr>
              <a:t>Counterfactual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" name="Rectangle 6"/>
          <p:cNvSpPr/>
          <p:nvPr/>
        </p:nvSpPr>
        <p:spPr>
          <a:xfrm>
            <a:off x="5760720" y="2834640"/>
            <a:ext cx="1416960" cy="411120"/>
          </a:xfrm>
          <a:prstGeom prst="rect">
            <a:avLst/>
          </a:prstGeom>
          <a:solidFill>
            <a:srgbClr val="191f2d"/>
          </a:solidFill>
          <a:ln>
            <a:solidFill>
              <a:srgbClr val="ff52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5f7fa"/>
                </a:solidFill>
                <a:latin typeface="Arial"/>
              </a:rPr>
              <a:t>Predictive KPI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" name="Rectangle 7"/>
          <p:cNvSpPr/>
          <p:nvPr/>
        </p:nvSpPr>
        <p:spPr>
          <a:xfrm>
            <a:off x="7452360" y="2834640"/>
            <a:ext cx="1416960" cy="411120"/>
          </a:xfrm>
          <a:prstGeom prst="rect">
            <a:avLst/>
          </a:prstGeom>
          <a:solidFill>
            <a:srgbClr val="191f2d"/>
          </a:solidFill>
          <a:ln>
            <a:solidFill>
              <a:srgbClr val="ff52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5f7fa"/>
                </a:solidFill>
                <a:latin typeface="Arial"/>
              </a:rPr>
              <a:t>Neo4j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" name="Rectangle 8"/>
          <p:cNvSpPr/>
          <p:nvPr/>
        </p:nvSpPr>
        <p:spPr>
          <a:xfrm>
            <a:off x="9144000" y="2834640"/>
            <a:ext cx="1416960" cy="411120"/>
          </a:xfrm>
          <a:prstGeom prst="rect">
            <a:avLst/>
          </a:prstGeom>
          <a:solidFill>
            <a:srgbClr val="191f2d"/>
          </a:solidFill>
          <a:ln>
            <a:solidFill>
              <a:srgbClr val="ff52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5f7fa"/>
                </a:solidFill>
                <a:latin typeface="Arial"/>
              </a:rPr>
              <a:t>API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" name="TextBox 9"/>
          <p:cNvSpPr/>
          <p:nvPr/>
        </p:nvSpPr>
        <p:spPr>
          <a:xfrm>
            <a:off x="594360" y="6446520"/>
            <a:ext cx="77720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aab2c4"/>
                </a:solidFill>
                <a:latin typeface="Arial"/>
              </a:rPr>
              <a:t>Норникель AI Hackathon · Фабрика гипотез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" name="TextBox 10"/>
          <p:cNvSpPr/>
          <p:nvPr/>
        </p:nvSpPr>
        <p:spPr>
          <a:xfrm>
            <a:off x="9189720" y="6446520"/>
            <a:ext cx="23770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aab2c4"/>
                </a:solidFill>
                <a:latin typeface="Arial"/>
              </a:rPr>
              <a:t>https://hackaton.baxic.ru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e12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TextBox 1"/>
          <p:cNvSpPr/>
          <p:nvPr/>
        </p:nvSpPr>
        <p:spPr>
          <a:xfrm>
            <a:off x="594360" y="411480"/>
            <a:ext cx="1097244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000" spc="-1" strike="noStrike">
                <a:solidFill>
                  <a:srgbClr val="f5f7fa"/>
                </a:solidFill>
                <a:latin typeface="Arial"/>
              </a:rPr>
              <a:t>Проблема кейса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" name="TextBox 2"/>
          <p:cNvSpPr/>
          <p:nvPr/>
        </p:nvSpPr>
        <p:spPr>
          <a:xfrm>
            <a:off x="621720" y="932760"/>
            <a:ext cx="107895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500" spc="-1" strike="noStrike">
                <a:solidFill>
                  <a:srgbClr val="aab2c4"/>
                </a:solidFill>
                <a:latin typeface="Arial"/>
              </a:rPr>
              <a:t>На старте НИОКР идеи часто формируются вручную и плохо связаны с историческими данными.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" name="TextBox 3"/>
          <p:cNvSpPr/>
          <p:nvPr/>
        </p:nvSpPr>
        <p:spPr>
          <a:xfrm>
            <a:off x="868680" y="1691640"/>
            <a:ext cx="22824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ff525c"/>
                </a:solidFill>
                <a:latin typeface="Arial"/>
              </a:rPr>
              <a:t>•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" name="TextBox 4"/>
          <p:cNvSpPr/>
          <p:nvPr/>
        </p:nvSpPr>
        <p:spPr>
          <a:xfrm>
            <a:off x="1216080" y="1673280"/>
            <a:ext cx="102409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rgbClr val="f5f7fa"/>
                </a:solidFill>
                <a:latin typeface="Arial"/>
              </a:rPr>
              <a:t>Субъективность и зависимость от отдельных экспертов.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" name="TextBox 5"/>
          <p:cNvSpPr/>
          <p:nvPr/>
        </p:nvSpPr>
        <p:spPr>
          <a:xfrm>
            <a:off x="868680" y="2350080"/>
            <a:ext cx="22824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ff525c"/>
                </a:solidFill>
                <a:latin typeface="Arial"/>
              </a:rPr>
              <a:t>•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" name="TextBox 6"/>
          <p:cNvSpPr/>
          <p:nvPr/>
        </p:nvSpPr>
        <p:spPr>
          <a:xfrm>
            <a:off x="1216080" y="2331720"/>
            <a:ext cx="102409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rgbClr val="f5f7fa"/>
                </a:solidFill>
                <a:latin typeface="Arial"/>
              </a:rPr>
              <a:t>Низкая связность гипотез с бизнес-эффектом и KPI.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" name="TextBox 7"/>
          <p:cNvSpPr/>
          <p:nvPr/>
        </p:nvSpPr>
        <p:spPr>
          <a:xfrm>
            <a:off x="868680" y="3008520"/>
            <a:ext cx="22824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ff525c"/>
                </a:solidFill>
                <a:latin typeface="Arial"/>
              </a:rPr>
              <a:t>•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" name="TextBox 8"/>
          <p:cNvSpPr/>
          <p:nvPr/>
        </p:nvSpPr>
        <p:spPr>
          <a:xfrm>
            <a:off x="1216080" y="2990160"/>
            <a:ext cx="102409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rgbClr val="f5f7fa"/>
                </a:solidFill>
                <a:latin typeface="Arial"/>
              </a:rPr>
              <a:t>Неиспользуемые архивы отчетов, экспериментов, патентов и таблиц.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" name="TextBox 9"/>
          <p:cNvSpPr/>
          <p:nvPr/>
        </p:nvSpPr>
        <p:spPr>
          <a:xfrm>
            <a:off x="868680" y="3666600"/>
            <a:ext cx="22824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ff525c"/>
                </a:solidFill>
                <a:latin typeface="Arial"/>
              </a:rPr>
              <a:t>•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" name="TextBox 10"/>
          <p:cNvSpPr/>
          <p:nvPr/>
        </p:nvSpPr>
        <p:spPr>
          <a:xfrm>
            <a:off x="1216080" y="3648600"/>
            <a:ext cx="102409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rgbClr val="f5f7fa"/>
                </a:solidFill>
                <a:latin typeface="Arial"/>
              </a:rPr>
              <a:t>Нет единого формата оценки новизны, рисков, ресурсов и ожидаемой ценности.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" name="TextBox 11"/>
          <p:cNvSpPr/>
          <p:nvPr/>
        </p:nvSpPr>
        <p:spPr>
          <a:xfrm>
            <a:off x="868680" y="4325040"/>
            <a:ext cx="22824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ff525c"/>
                </a:solidFill>
                <a:latin typeface="Arial"/>
              </a:rPr>
              <a:t>•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" name="TextBox 12"/>
          <p:cNvSpPr/>
          <p:nvPr/>
        </p:nvSpPr>
        <p:spPr>
          <a:xfrm>
            <a:off x="1216080" y="4306680"/>
            <a:ext cx="102409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rgbClr val="f5f7fa"/>
                </a:solidFill>
                <a:latin typeface="Arial"/>
              </a:rPr>
              <a:t>Долгий старт исследовательских проектов.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" name="TextBox 13"/>
          <p:cNvSpPr/>
          <p:nvPr/>
        </p:nvSpPr>
        <p:spPr>
          <a:xfrm>
            <a:off x="594360" y="6446520"/>
            <a:ext cx="77720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aab2c4"/>
                </a:solidFill>
                <a:latin typeface="Arial"/>
              </a:rPr>
              <a:t>Hypothesis Factory · GraphRAG + LLM + calculators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TextBox 14"/>
          <p:cNvSpPr/>
          <p:nvPr/>
        </p:nvSpPr>
        <p:spPr>
          <a:xfrm>
            <a:off x="9189720" y="6446520"/>
            <a:ext cx="23770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aab2c4"/>
                </a:solidFill>
                <a:latin typeface="Arial"/>
              </a:rPr>
              <a:t>https://hackaton.baxic.ru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e12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TextBox 1"/>
          <p:cNvSpPr/>
          <p:nvPr/>
        </p:nvSpPr>
        <p:spPr>
          <a:xfrm>
            <a:off x="594360" y="411480"/>
            <a:ext cx="1097244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000" spc="-1" strike="noStrike">
                <a:solidFill>
                  <a:srgbClr val="f5f7fa"/>
                </a:solidFill>
                <a:latin typeface="Arial"/>
              </a:rPr>
              <a:t>Идея решения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TextBox 2"/>
          <p:cNvSpPr/>
          <p:nvPr/>
        </p:nvSpPr>
        <p:spPr>
          <a:xfrm>
            <a:off x="621720" y="932760"/>
            <a:ext cx="107895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500" spc="-1" strike="noStrike">
                <a:solidFill>
                  <a:srgbClr val="aab2c4"/>
                </a:solidFill>
                <a:latin typeface="Arial"/>
              </a:rPr>
              <a:t>Инструмент превращает разнородную базу знаний в ранжированный список проверяемых гипотез.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" name="TextBox 3"/>
          <p:cNvSpPr/>
          <p:nvPr/>
        </p:nvSpPr>
        <p:spPr>
          <a:xfrm>
            <a:off x="868680" y="1691640"/>
            <a:ext cx="22824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ff525c"/>
                </a:solidFill>
                <a:latin typeface="Arial"/>
              </a:rPr>
              <a:t>•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" name="TextBox 4"/>
          <p:cNvSpPr/>
          <p:nvPr/>
        </p:nvSpPr>
        <p:spPr>
          <a:xfrm>
            <a:off x="1216080" y="1673280"/>
            <a:ext cx="102409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rgbClr val="f5f7fa"/>
                </a:solidFill>
                <a:latin typeface="Arial"/>
              </a:rPr>
              <a:t>Принимает цель/KPI, ограничения, сырье, оборудование и веса ранжирования.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" name="TextBox 5"/>
          <p:cNvSpPr/>
          <p:nvPr/>
        </p:nvSpPr>
        <p:spPr>
          <a:xfrm>
            <a:off x="868680" y="2350080"/>
            <a:ext cx="22824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ff525c"/>
                </a:solidFill>
                <a:latin typeface="Arial"/>
              </a:rPr>
              <a:t>•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" name="TextBox 6"/>
          <p:cNvSpPr/>
          <p:nvPr/>
        </p:nvSpPr>
        <p:spPr>
          <a:xfrm>
            <a:off x="1216080" y="2331720"/>
            <a:ext cx="102409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rgbClr val="f5f7fa"/>
                </a:solidFill>
                <a:latin typeface="Arial"/>
              </a:rPr>
              <a:t>Загружает PDF/DOCX/Excel/CSV/текст/изображения и извлекает метаданные.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" name="TextBox 7"/>
          <p:cNvSpPr/>
          <p:nvPr/>
        </p:nvSpPr>
        <p:spPr>
          <a:xfrm>
            <a:off x="868680" y="3008520"/>
            <a:ext cx="22824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ff525c"/>
                </a:solidFill>
                <a:latin typeface="Arial"/>
              </a:rPr>
              <a:t>•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" name="TextBox 8"/>
          <p:cNvSpPr/>
          <p:nvPr/>
        </p:nvSpPr>
        <p:spPr>
          <a:xfrm>
            <a:off x="1216080" y="2990160"/>
            <a:ext cx="102409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rgbClr val="f5f7fa"/>
                </a:solidFill>
                <a:latin typeface="Arial"/>
              </a:rPr>
              <a:t>Строит GraphRAG-граф материалов, процессов, свойств, параметров и источников.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" name="TextBox 9"/>
          <p:cNvSpPr/>
          <p:nvPr/>
        </p:nvSpPr>
        <p:spPr>
          <a:xfrm>
            <a:off x="868680" y="3666600"/>
            <a:ext cx="22824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ff525c"/>
                </a:solidFill>
                <a:latin typeface="Arial"/>
              </a:rPr>
              <a:t>•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" name="TextBox 10"/>
          <p:cNvSpPr/>
          <p:nvPr/>
        </p:nvSpPr>
        <p:spPr>
          <a:xfrm>
            <a:off x="1216080" y="3648600"/>
            <a:ext cx="102409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rgbClr val="f5f7fa"/>
                </a:solidFill>
                <a:latin typeface="Arial"/>
              </a:rPr>
              <a:t>Генерирует гипотезы с механизмом влияния, источниками и планом проверки.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" name="TextBox 11"/>
          <p:cNvSpPr/>
          <p:nvPr/>
        </p:nvSpPr>
        <p:spPr>
          <a:xfrm>
            <a:off x="868680" y="4325040"/>
            <a:ext cx="22824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ff525c"/>
                </a:solidFill>
                <a:latin typeface="Arial"/>
              </a:rPr>
              <a:t>•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" name="TextBox 12"/>
          <p:cNvSpPr/>
          <p:nvPr/>
        </p:nvSpPr>
        <p:spPr>
          <a:xfrm>
            <a:off x="1216080" y="4306680"/>
            <a:ext cx="102409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rgbClr val="f5f7fa"/>
                </a:solidFill>
                <a:latin typeface="Arial"/>
              </a:rPr>
              <a:t>Экспортирует результат в PDF/DOCX/JSON/CSV/API и задачи Jira/YouTrack.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" name="TextBox 13"/>
          <p:cNvSpPr/>
          <p:nvPr/>
        </p:nvSpPr>
        <p:spPr>
          <a:xfrm>
            <a:off x="594360" y="6446520"/>
            <a:ext cx="77720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aab2c4"/>
                </a:solidFill>
                <a:latin typeface="Arial"/>
              </a:rPr>
              <a:t>Hypothesis Factory · GraphRAG + LLM + calculators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" name="TextBox 14"/>
          <p:cNvSpPr/>
          <p:nvPr/>
        </p:nvSpPr>
        <p:spPr>
          <a:xfrm>
            <a:off x="9189720" y="6446520"/>
            <a:ext cx="23770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aab2c4"/>
                </a:solidFill>
                <a:latin typeface="Arial"/>
              </a:rPr>
              <a:t>https://hackaton.baxic.ru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e12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TextBox 1"/>
          <p:cNvSpPr/>
          <p:nvPr/>
        </p:nvSpPr>
        <p:spPr>
          <a:xfrm>
            <a:off x="594360" y="411480"/>
            <a:ext cx="1097244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000" spc="-1" strike="noStrike">
                <a:solidFill>
                  <a:srgbClr val="f5f7fa"/>
                </a:solidFill>
                <a:latin typeface="Arial"/>
              </a:rPr>
              <a:t>Архитектура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" name="TextBox 2"/>
          <p:cNvSpPr/>
          <p:nvPr/>
        </p:nvSpPr>
        <p:spPr>
          <a:xfrm>
            <a:off x="621720" y="932760"/>
            <a:ext cx="107895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500" spc="-1" strike="noStrike">
                <a:solidFill>
                  <a:srgbClr val="aab2c4"/>
                </a:solidFill>
                <a:latin typeface="Arial"/>
              </a:rPr>
              <a:t>Гибридный агентный пайплайн с трассировкой каждого шага.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" name="Rectangle 3"/>
          <p:cNvSpPr/>
          <p:nvPr/>
        </p:nvSpPr>
        <p:spPr>
          <a:xfrm>
            <a:off x="502920" y="2240280"/>
            <a:ext cx="1645560" cy="1051200"/>
          </a:xfrm>
          <a:prstGeom prst="rect">
            <a:avLst/>
          </a:prstGeom>
          <a:solidFill>
            <a:srgbClr val="191f2d"/>
          </a:solidFill>
          <a:ln>
            <a:solidFill>
              <a:srgbClr val="58a6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8" name="TextBox 4"/>
          <p:cNvSpPr/>
          <p:nvPr/>
        </p:nvSpPr>
        <p:spPr>
          <a:xfrm>
            <a:off x="612720" y="2386440"/>
            <a:ext cx="14259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58a6ff"/>
                </a:solidFill>
                <a:latin typeface="Arial"/>
              </a:rPr>
              <a:t>Ingestion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" name="TextBox 5"/>
          <p:cNvSpPr/>
          <p:nvPr/>
        </p:nvSpPr>
        <p:spPr>
          <a:xfrm>
            <a:off x="612720" y="2743200"/>
            <a:ext cx="142596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ab2c4"/>
                </a:solidFill>
                <a:latin typeface="Arial"/>
              </a:rPr>
              <a:t>OCR + metadata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TextBox 6"/>
          <p:cNvSpPr/>
          <p:nvPr/>
        </p:nvSpPr>
        <p:spPr>
          <a:xfrm>
            <a:off x="2130480" y="2697480"/>
            <a:ext cx="31968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aab2c4"/>
                </a:solidFill>
                <a:latin typeface="Arial"/>
              </a:rPr>
              <a:t>→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" name="Rectangle 7"/>
          <p:cNvSpPr/>
          <p:nvPr/>
        </p:nvSpPr>
        <p:spPr>
          <a:xfrm>
            <a:off x="2404800" y="2240280"/>
            <a:ext cx="1645560" cy="1051200"/>
          </a:xfrm>
          <a:prstGeom prst="rect">
            <a:avLst/>
          </a:prstGeom>
          <a:solidFill>
            <a:srgbClr val="191f2d"/>
          </a:solidFill>
          <a:ln>
            <a:solidFill>
              <a:srgbClr val="58a6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2" name="TextBox 8"/>
          <p:cNvSpPr/>
          <p:nvPr/>
        </p:nvSpPr>
        <p:spPr>
          <a:xfrm>
            <a:off x="2514600" y="2386440"/>
            <a:ext cx="14259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58a6ff"/>
                </a:solidFill>
                <a:latin typeface="Arial"/>
              </a:rPr>
              <a:t>Retrieval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" name="TextBox 9"/>
          <p:cNvSpPr/>
          <p:nvPr/>
        </p:nvSpPr>
        <p:spPr>
          <a:xfrm>
            <a:off x="2514600" y="2743200"/>
            <a:ext cx="142596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ab2c4"/>
                </a:solidFill>
                <a:latin typeface="Arial"/>
              </a:rPr>
              <a:t>Hashing RAG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TextBox 10"/>
          <p:cNvSpPr/>
          <p:nvPr/>
        </p:nvSpPr>
        <p:spPr>
          <a:xfrm>
            <a:off x="4032360" y="2697480"/>
            <a:ext cx="31968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aab2c4"/>
                </a:solidFill>
                <a:latin typeface="Arial"/>
              </a:rPr>
              <a:t>→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" name="Rectangle 11"/>
          <p:cNvSpPr/>
          <p:nvPr/>
        </p:nvSpPr>
        <p:spPr>
          <a:xfrm>
            <a:off x="4306680" y="2240280"/>
            <a:ext cx="1645560" cy="1051200"/>
          </a:xfrm>
          <a:prstGeom prst="rect">
            <a:avLst/>
          </a:prstGeom>
          <a:solidFill>
            <a:srgbClr val="191f2d"/>
          </a:solidFill>
          <a:ln>
            <a:solidFill>
              <a:srgbClr val="58a6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6" name="TextBox 12"/>
          <p:cNvSpPr/>
          <p:nvPr/>
        </p:nvSpPr>
        <p:spPr>
          <a:xfrm>
            <a:off x="4416480" y="2386440"/>
            <a:ext cx="14259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58a6ff"/>
                </a:solidFill>
                <a:latin typeface="Arial"/>
              </a:rPr>
              <a:t>GraphRAG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" name="TextBox 13"/>
          <p:cNvSpPr/>
          <p:nvPr/>
        </p:nvSpPr>
        <p:spPr>
          <a:xfrm>
            <a:off x="4416480" y="2743200"/>
            <a:ext cx="142596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ab2c4"/>
                </a:solidFill>
                <a:latin typeface="Arial"/>
              </a:rPr>
              <a:t>entities + paths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" name="TextBox 14"/>
          <p:cNvSpPr/>
          <p:nvPr/>
        </p:nvSpPr>
        <p:spPr>
          <a:xfrm>
            <a:off x="5934600" y="2697480"/>
            <a:ext cx="31968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aab2c4"/>
                </a:solidFill>
                <a:latin typeface="Arial"/>
              </a:rPr>
              <a:t>→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9" name="Rectangle 15"/>
          <p:cNvSpPr/>
          <p:nvPr/>
        </p:nvSpPr>
        <p:spPr>
          <a:xfrm>
            <a:off x="6208920" y="2240280"/>
            <a:ext cx="1645560" cy="1051200"/>
          </a:xfrm>
          <a:prstGeom prst="rect">
            <a:avLst/>
          </a:prstGeom>
          <a:solidFill>
            <a:srgbClr val="191f2d"/>
          </a:solidFill>
          <a:ln>
            <a:solidFill>
              <a:srgbClr val="ff52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0" name="TextBox 16"/>
          <p:cNvSpPr/>
          <p:nvPr/>
        </p:nvSpPr>
        <p:spPr>
          <a:xfrm>
            <a:off x="6318360" y="2386440"/>
            <a:ext cx="14259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ff525c"/>
                </a:solidFill>
                <a:latin typeface="Arial"/>
              </a:rPr>
              <a:t>Hypotheses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" name="TextBox 17"/>
          <p:cNvSpPr/>
          <p:nvPr/>
        </p:nvSpPr>
        <p:spPr>
          <a:xfrm>
            <a:off x="6318360" y="2743200"/>
            <a:ext cx="142596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ab2c4"/>
                </a:solidFill>
                <a:latin typeface="Arial"/>
              </a:rPr>
              <a:t>candidate generation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" name="TextBox 18"/>
          <p:cNvSpPr/>
          <p:nvPr/>
        </p:nvSpPr>
        <p:spPr>
          <a:xfrm>
            <a:off x="7836480" y="2697480"/>
            <a:ext cx="31968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aab2c4"/>
                </a:solidFill>
                <a:latin typeface="Arial"/>
              </a:rPr>
              <a:t>→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3" name="Rectangle 19"/>
          <p:cNvSpPr/>
          <p:nvPr/>
        </p:nvSpPr>
        <p:spPr>
          <a:xfrm>
            <a:off x="8110800" y="2240280"/>
            <a:ext cx="1645560" cy="1051200"/>
          </a:xfrm>
          <a:prstGeom prst="rect">
            <a:avLst/>
          </a:prstGeom>
          <a:solidFill>
            <a:srgbClr val="191f2d"/>
          </a:solidFill>
          <a:ln>
            <a:solidFill>
              <a:srgbClr val="ff52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4" name="TextBox 20"/>
          <p:cNvSpPr/>
          <p:nvPr/>
        </p:nvSpPr>
        <p:spPr>
          <a:xfrm>
            <a:off x="8220600" y="2386440"/>
            <a:ext cx="14259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ff525c"/>
                </a:solidFill>
                <a:latin typeface="Arial"/>
              </a:rPr>
              <a:t>Checks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5" name="TextBox 21"/>
          <p:cNvSpPr/>
          <p:nvPr/>
        </p:nvSpPr>
        <p:spPr>
          <a:xfrm>
            <a:off x="8220600" y="2743200"/>
            <a:ext cx="142596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ab2c4"/>
                </a:solidFill>
                <a:latin typeface="Arial"/>
              </a:rPr>
              <a:t>counterfactual + KPI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6" name="TextBox 22"/>
          <p:cNvSpPr/>
          <p:nvPr/>
        </p:nvSpPr>
        <p:spPr>
          <a:xfrm>
            <a:off x="9738360" y="2697480"/>
            <a:ext cx="31968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aab2c4"/>
                </a:solidFill>
                <a:latin typeface="Arial"/>
              </a:rPr>
              <a:t>→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7" name="Rectangle 23"/>
          <p:cNvSpPr/>
          <p:nvPr/>
        </p:nvSpPr>
        <p:spPr>
          <a:xfrm>
            <a:off x="10012680" y="2240280"/>
            <a:ext cx="1645560" cy="1051200"/>
          </a:xfrm>
          <a:prstGeom prst="rect">
            <a:avLst/>
          </a:prstGeom>
          <a:solidFill>
            <a:srgbClr val="191f2d"/>
          </a:solidFill>
          <a:ln>
            <a:solidFill>
              <a:srgbClr val="ff52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8" name="TextBox 24"/>
          <p:cNvSpPr/>
          <p:nvPr/>
        </p:nvSpPr>
        <p:spPr>
          <a:xfrm>
            <a:off x="10122480" y="2386440"/>
            <a:ext cx="14259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ff525c"/>
                </a:solidFill>
                <a:latin typeface="Arial"/>
              </a:rPr>
              <a:t>Outputs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" name="TextBox 25"/>
          <p:cNvSpPr/>
          <p:nvPr/>
        </p:nvSpPr>
        <p:spPr>
          <a:xfrm>
            <a:off x="10122480" y="2743200"/>
            <a:ext cx="142596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ab2c4"/>
                </a:solidFill>
                <a:latin typeface="Arial"/>
              </a:rPr>
              <a:t>reports + API + tasks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" name="Rectangle 26"/>
          <p:cNvSpPr/>
          <p:nvPr/>
        </p:nvSpPr>
        <p:spPr>
          <a:xfrm>
            <a:off x="914400" y="4846320"/>
            <a:ext cx="10332360" cy="793800"/>
          </a:xfrm>
          <a:prstGeom prst="rect">
            <a:avLst/>
          </a:prstGeom>
          <a:solidFill>
            <a:srgbClr val="191f2d"/>
          </a:solidFill>
          <a:ln>
            <a:solidFill>
              <a:srgbClr val="3ddc9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1" name="TextBox 27"/>
          <p:cNvSpPr/>
          <p:nvPr/>
        </p:nvSpPr>
        <p:spPr>
          <a:xfrm>
            <a:off x="1143000" y="5001840"/>
            <a:ext cx="9875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3ddc97"/>
                </a:solidFill>
                <a:latin typeface="Arial"/>
              </a:rPr>
              <a:t>Neo4j хранит граф, YandexGPT получает long-context, Jira/YouTrack получают проверяемые задачи.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2" name="TextBox 28"/>
          <p:cNvSpPr/>
          <p:nvPr/>
        </p:nvSpPr>
        <p:spPr>
          <a:xfrm>
            <a:off x="594360" y="6446520"/>
            <a:ext cx="77720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aab2c4"/>
                </a:solidFill>
                <a:latin typeface="Arial"/>
              </a:rPr>
              <a:t>Hypothesis Factory · GraphRAG + LLM + calculators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3" name="TextBox 29"/>
          <p:cNvSpPr/>
          <p:nvPr/>
        </p:nvSpPr>
        <p:spPr>
          <a:xfrm>
            <a:off x="9189720" y="6446520"/>
            <a:ext cx="23770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aab2c4"/>
                </a:solidFill>
                <a:latin typeface="Arial"/>
              </a:rPr>
              <a:t>https://hackaton.baxic.ru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e12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TextBox 1"/>
          <p:cNvSpPr/>
          <p:nvPr/>
        </p:nvSpPr>
        <p:spPr>
          <a:xfrm>
            <a:off x="594360" y="411480"/>
            <a:ext cx="1097244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000" spc="-1" strike="noStrike">
                <a:solidFill>
                  <a:srgbClr val="f5f7fa"/>
                </a:solidFill>
                <a:latin typeface="Arial"/>
              </a:rPr>
              <a:t>Данные и предобработка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5" name="TextBox 2"/>
          <p:cNvSpPr/>
          <p:nvPr/>
        </p:nvSpPr>
        <p:spPr>
          <a:xfrm>
            <a:off x="621720" y="932760"/>
            <a:ext cx="107895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500" spc="-1" strike="noStrike">
                <a:solidFill>
                  <a:srgbClr val="aab2c4"/>
                </a:solidFill>
                <a:latin typeface="Arial"/>
              </a:rPr>
              <a:t>Система рассчитана на неполные, шумные и мультиязычные источники.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TextBox 3"/>
          <p:cNvSpPr/>
          <p:nvPr/>
        </p:nvSpPr>
        <p:spPr>
          <a:xfrm>
            <a:off x="868680" y="1691640"/>
            <a:ext cx="22824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ff525c"/>
                </a:solidFill>
                <a:latin typeface="Arial"/>
              </a:rPr>
              <a:t>•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7" name="TextBox 4"/>
          <p:cNvSpPr/>
          <p:nvPr/>
        </p:nvSpPr>
        <p:spPr>
          <a:xfrm>
            <a:off x="1216080" y="1673280"/>
            <a:ext cx="102409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rgbClr val="f5f7fa"/>
                </a:solidFill>
                <a:latin typeface="Arial"/>
              </a:rPr>
              <a:t>Форматы: txt, md, pdf, docx, csv, xlsx, png, jpg, jpeg, webp.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8" name="TextBox 5"/>
          <p:cNvSpPr/>
          <p:nvPr/>
        </p:nvSpPr>
        <p:spPr>
          <a:xfrm>
            <a:off x="868680" y="2350080"/>
            <a:ext cx="22824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ff525c"/>
                </a:solidFill>
                <a:latin typeface="Arial"/>
              </a:rPr>
              <a:t>•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9" name="TextBox 6"/>
          <p:cNvSpPr/>
          <p:nvPr/>
        </p:nvSpPr>
        <p:spPr>
          <a:xfrm>
            <a:off x="1216080" y="2331720"/>
            <a:ext cx="102409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rgbClr val="f5f7fa"/>
                </a:solidFill>
                <a:latin typeface="Arial"/>
              </a:rPr>
              <a:t>OCR: русский, английский, китайский; есть timeout и fallback для демо.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" name="TextBox 7"/>
          <p:cNvSpPr/>
          <p:nvPr/>
        </p:nvSpPr>
        <p:spPr>
          <a:xfrm>
            <a:off x="868680" y="3008520"/>
            <a:ext cx="22824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ff525c"/>
                </a:solidFill>
                <a:latin typeface="Arial"/>
              </a:rPr>
              <a:t>•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" name="TextBox 8"/>
          <p:cNvSpPr/>
          <p:nvPr/>
        </p:nvSpPr>
        <p:spPr>
          <a:xfrm>
            <a:off x="1216080" y="2990160"/>
            <a:ext cx="102409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rgbClr val="f5f7fa"/>
                </a:solidFill>
                <a:latin typeface="Arial"/>
              </a:rPr>
              <a:t>Метаданные: даты, авторы, pH, температура, проценты, крупность частиц.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TextBox 9"/>
          <p:cNvSpPr/>
          <p:nvPr/>
        </p:nvSpPr>
        <p:spPr>
          <a:xfrm>
            <a:off x="868680" y="3666600"/>
            <a:ext cx="22824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ff525c"/>
                </a:solidFill>
                <a:latin typeface="Arial"/>
              </a:rPr>
              <a:t>•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3" name="TextBox 10"/>
          <p:cNvSpPr/>
          <p:nvPr/>
        </p:nvSpPr>
        <p:spPr>
          <a:xfrm>
            <a:off x="1216080" y="3648600"/>
            <a:ext cx="102409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rgbClr val="f5f7fa"/>
                </a:solidFill>
                <a:latin typeface="Arial"/>
              </a:rPr>
              <a:t>Нормализация терминов: tailings/flotation/</a:t>
            </a:r>
            <a:r>
              <a:rPr b="0" lang="zh-CN" sz="1800" spc="-1" strike="noStrike">
                <a:solidFill>
                  <a:srgbClr val="f5f7fa"/>
                </a:solidFill>
                <a:latin typeface="Arial"/>
              </a:rPr>
              <a:t>尾矿</a:t>
            </a:r>
            <a:r>
              <a:rPr b="0" lang="en-US" sz="1800" spc="-1" strike="noStrike">
                <a:solidFill>
                  <a:srgbClr val="f5f7fa"/>
                </a:solidFill>
                <a:latin typeface="Arial"/>
              </a:rPr>
              <a:t>/</a:t>
            </a:r>
            <a:r>
              <a:rPr b="0" lang="zh-CN" sz="1800" spc="-1" strike="noStrike">
                <a:solidFill>
                  <a:srgbClr val="f5f7fa"/>
                </a:solidFill>
                <a:latin typeface="Arial"/>
              </a:rPr>
              <a:t>浮选 </a:t>
            </a:r>
            <a:r>
              <a:rPr b="0" lang="en-US" sz="1800" spc="-1" strike="noStrike">
                <a:solidFill>
                  <a:srgbClr val="f5f7fa"/>
                </a:solidFill>
                <a:latin typeface="Arial"/>
              </a:rPr>
              <a:t>-&gt; русская онтология.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TextBox 11"/>
          <p:cNvSpPr/>
          <p:nvPr/>
        </p:nvSpPr>
        <p:spPr>
          <a:xfrm>
            <a:off x="868680" y="4325040"/>
            <a:ext cx="22824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ff525c"/>
                </a:solidFill>
                <a:latin typeface="Arial"/>
              </a:rPr>
              <a:t>•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5" name="TextBox 12"/>
          <p:cNvSpPr/>
          <p:nvPr/>
        </p:nvSpPr>
        <p:spPr>
          <a:xfrm>
            <a:off x="1216080" y="4306680"/>
            <a:ext cx="102409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rgbClr val="f5f7fa"/>
                </a:solidFill>
                <a:latin typeface="Arial"/>
              </a:rPr>
              <a:t>HashingVectorizer устойчив к пустым словарям и шумным документам.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6" name="TextBox 13"/>
          <p:cNvSpPr/>
          <p:nvPr/>
        </p:nvSpPr>
        <p:spPr>
          <a:xfrm>
            <a:off x="594360" y="6446520"/>
            <a:ext cx="77720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aab2c4"/>
                </a:solidFill>
                <a:latin typeface="Arial"/>
              </a:rPr>
              <a:t>Hypothesis Factory · GraphRAG + LLM + calculators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7" name="TextBox 14"/>
          <p:cNvSpPr/>
          <p:nvPr/>
        </p:nvSpPr>
        <p:spPr>
          <a:xfrm>
            <a:off x="9189720" y="6446520"/>
            <a:ext cx="23770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aab2c4"/>
                </a:solidFill>
                <a:latin typeface="Arial"/>
              </a:rPr>
              <a:t>https://hackaton.baxic.ru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e12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TextBox 1"/>
          <p:cNvSpPr/>
          <p:nvPr/>
        </p:nvSpPr>
        <p:spPr>
          <a:xfrm>
            <a:off x="594360" y="411480"/>
            <a:ext cx="1097244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000" spc="-1" strike="noStrike">
                <a:solidFill>
                  <a:srgbClr val="f5f7fa"/>
                </a:solidFill>
                <a:latin typeface="Arial"/>
              </a:rPr>
              <a:t>Генерация и проверка гипотез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9" name="TextBox 2"/>
          <p:cNvSpPr/>
          <p:nvPr/>
        </p:nvSpPr>
        <p:spPr>
          <a:xfrm>
            <a:off x="621720" y="932760"/>
            <a:ext cx="107895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500" spc="-1" strike="noStrike">
                <a:solidFill>
                  <a:srgbClr val="aab2c4"/>
                </a:solidFill>
                <a:latin typeface="Arial"/>
              </a:rPr>
              <a:t>Пайплайн не просто пишет текст, а оставляет проверяемый след рассуждения.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0" name="TextBox 3"/>
          <p:cNvSpPr/>
          <p:nvPr/>
        </p:nvSpPr>
        <p:spPr>
          <a:xfrm>
            <a:off x="868680" y="1691640"/>
            <a:ext cx="22824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ff525c"/>
                </a:solidFill>
                <a:latin typeface="Arial"/>
              </a:rPr>
              <a:t>•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1" name="TextBox 4"/>
          <p:cNvSpPr/>
          <p:nvPr/>
        </p:nvSpPr>
        <p:spPr>
          <a:xfrm>
            <a:off x="1216080" y="1673280"/>
            <a:ext cx="102409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rgbClr val="f5f7fa"/>
                </a:solidFill>
                <a:latin typeface="Arial"/>
              </a:rPr>
              <a:t>HypothesisAgent формирует кандидатов из факторов, процессов и целевых свойств.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2" name="TextBox 5"/>
          <p:cNvSpPr/>
          <p:nvPr/>
        </p:nvSpPr>
        <p:spPr>
          <a:xfrm>
            <a:off x="868680" y="2350080"/>
            <a:ext cx="22824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ff525c"/>
                </a:solidFill>
                <a:latin typeface="Arial"/>
              </a:rPr>
              <a:t>•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3" name="TextBox 6"/>
          <p:cNvSpPr/>
          <p:nvPr/>
        </p:nvSpPr>
        <p:spPr>
          <a:xfrm>
            <a:off x="1216080" y="2331720"/>
            <a:ext cx="102409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rgbClr val="f5f7fa"/>
                </a:solidFill>
                <a:latin typeface="Arial"/>
              </a:rPr>
              <a:t>CounterfactualAgent сравнивает baseline, сценарий без фактора и альтернативный процесс.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4" name="TextBox 7"/>
          <p:cNvSpPr/>
          <p:nvPr/>
        </p:nvSpPr>
        <p:spPr>
          <a:xfrm>
            <a:off x="868680" y="3008520"/>
            <a:ext cx="22824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ff525c"/>
                </a:solidFill>
                <a:latin typeface="Arial"/>
              </a:rPr>
              <a:t>•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5" name="TextBox 8"/>
          <p:cNvSpPr/>
          <p:nvPr/>
        </p:nvSpPr>
        <p:spPr>
          <a:xfrm>
            <a:off x="1216080" y="2990160"/>
            <a:ext cx="102409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rgbClr val="f5f7fa"/>
                </a:solidFill>
                <a:latin typeface="Arial"/>
              </a:rPr>
              <a:t>PredictiveKPIAgent использует RandomForest surrogate для оценки normalized KPI uplift.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6" name="TextBox 9"/>
          <p:cNvSpPr/>
          <p:nvPr/>
        </p:nvSpPr>
        <p:spPr>
          <a:xfrm>
            <a:off x="868680" y="3666600"/>
            <a:ext cx="22824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ff525c"/>
                </a:solidFill>
                <a:latin typeface="Arial"/>
              </a:rPr>
              <a:t>•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7" name="TextBox 10"/>
          <p:cNvSpPr/>
          <p:nvPr/>
        </p:nvSpPr>
        <p:spPr>
          <a:xfrm>
            <a:off x="1216080" y="3648600"/>
            <a:ext cx="102409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rgbClr val="f5f7fa"/>
                </a:solidFill>
                <a:latin typeface="Arial"/>
              </a:rPr>
              <a:t>CalculatorAgent проверяет оборудование, стоимость, KPI-эффект, баланс процесса и термоокно.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8" name="TextBox 11"/>
          <p:cNvSpPr/>
          <p:nvPr/>
        </p:nvSpPr>
        <p:spPr>
          <a:xfrm>
            <a:off x="868680" y="4325040"/>
            <a:ext cx="22824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ff525c"/>
                </a:solidFill>
                <a:latin typeface="Arial"/>
              </a:rPr>
              <a:t>•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9" name="TextBox 12"/>
          <p:cNvSpPr/>
          <p:nvPr/>
        </p:nvSpPr>
        <p:spPr>
          <a:xfrm>
            <a:off x="1216080" y="4306680"/>
            <a:ext cx="102409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rgbClr val="f5f7fa"/>
                </a:solidFill>
                <a:latin typeface="Arial"/>
              </a:rPr>
              <a:t>NoveltyAgent делает preliminary screening по Crossref, Semantic Scholar и PatentsView.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0" name="TextBox 13"/>
          <p:cNvSpPr/>
          <p:nvPr/>
        </p:nvSpPr>
        <p:spPr>
          <a:xfrm>
            <a:off x="594360" y="6446520"/>
            <a:ext cx="77720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aab2c4"/>
                </a:solidFill>
                <a:latin typeface="Arial"/>
              </a:rPr>
              <a:t>Hypothesis Factory · GraphRAG + LLM + calculators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1" name="TextBox 14"/>
          <p:cNvSpPr/>
          <p:nvPr/>
        </p:nvSpPr>
        <p:spPr>
          <a:xfrm>
            <a:off x="9189720" y="6446520"/>
            <a:ext cx="23770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aab2c4"/>
                </a:solidFill>
                <a:latin typeface="Arial"/>
              </a:rPr>
              <a:t>https://hackaton.baxic.ru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e12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TextBox 1"/>
          <p:cNvSpPr/>
          <p:nvPr/>
        </p:nvSpPr>
        <p:spPr>
          <a:xfrm>
            <a:off x="594360" y="411480"/>
            <a:ext cx="1097244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000" spc="-1" strike="noStrike">
                <a:solidFill>
                  <a:srgbClr val="f5f7fa"/>
                </a:solidFill>
                <a:latin typeface="Arial"/>
              </a:rPr>
              <a:t>Объяснимость и ранжирование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3" name="TextBox 2"/>
          <p:cNvSpPr/>
          <p:nvPr/>
        </p:nvSpPr>
        <p:spPr>
          <a:xfrm>
            <a:off x="621720" y="932760"/>
            <a:ext cx="107895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500" spc="-1" strike="noStrike">
                <a:solidFill>
                  <a:srgbClr val="aab2c4"/>
                </a:solidFill>
                <a:latin typeface="Arial"/>
              </a:rPr>
              <a:t>Каждая гипотеза получает прозрачное обоснование для эксперта.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4" name="TextBox 3"/>
          <p:cNvSpPr/>
          <p:nvPr/>
        </p:nvSpPr>
        <p:spPr>
          <a:xfrm>
            <a:off x="868680" y="1691640"/>
            <a:ext cx="22824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ff525c"/>
                </a:solidFill>
                <a:latin typeface="Arial"/>
              </a:rPr>
              <a:t>•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5" name="TextBox 4"/>
          <p:cNvSpPr/>
          <p:nvPr/>
        </p:nvSpPr>
        <p:spPr>
          <a:xfrm>
            <a:off x="1216080" y="1673280"/>
            <a:ext cx="102409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rgbClr val="f5f7fa"/>
                </a:solidFill>
                <a:latin typeface="Arial"/>
              </a:rPr>
              <a:t>Score: novelty, feasibility, expected value, risk, confidence.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" name="TextBox 5"/>
          <p:cNvSpPr/>
          <p:nvPr/>
        </p:nvSpPr>
        <p:spPr>
          <a:xfrm>
            <a:off x="868680" y="2350080"/>
            <a:ext cx="22824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ff525c"/>
                </a:solidFill>
                <a:latin typeface="Arial"/>
              </a:rPr>
              <a:t>•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7" name="TextBox 6"/>
          <p:cNvSpPr/>
          <p:nvPr/>
        </p:nvSpPr>
        <p:spPr>
          <a:xfrm>
            <a:off x="1216080" y="2331720"/>
            <a:ext cx="102409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rgbClr val="f5f7fa"/>
                </a:solidFill>
                <a:latin typeface="Arial"/>
              </a:rPr>
              <a:t>Карточка: формулировка, механизм, источники, цитаты, риски, ресурсы, план эксперимента.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" name="TextBox 7"/>
          <p:cNvSpPr/>
          <p:nvPr/>
        </p:nvSpPr>
        <p:spPr>
          <a:xfrm>
            <a:off x="868680" y="3008520"/>
            <a:ext cx="22824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ff525c"/>
                </a:solidFill>
                <a:latin typeface="Arial"/>
              </a:rPr>
              <a:t>•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9" name="TextBox 8"/>
          <p:cNvSpPr/>
          <p:nvPr/>
        </p:nvSpPr>
        <p:spPr>
          <a:xfrm>
            <a:off x="1216080" y="2990160"/>
            <a:ext cx="102409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rgbClr val="f5f7fa"/>
                </a:solidFill>
                <a:latin typeface="Arial"/>
              </a:rPr>
              <a:t>GraphRAG показывает связанные узлы и объяснимые пути в графе.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" name="TextBox 9"/>
          <p:cNvSpPr/>
          <p:nvPr/>
        </p:nvSpPr>
        <p:spPr>
          <a:xfrm>
            <a:off x="868680" y="3666600"/>
            <a:ext cx="22824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ff525c"/>
                </a:solidFill>
                <a:latin typeface="Arial"/>
              </a:rPr>
              <a:t>•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1" name="TextBox 10"/>
          <p:cNvSpPr/>
          <p:nvPr/>
        </p:nvSpPr>
        <p:spPr>
          <a:xfrm>
            <a:off x="1216080" y="3648600"/>
            <a:ext cx="102409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rgbClr val="f5f7fa"/>
                </a:solidFill>
                <a:latin typeface="Arial"/>
              </a:rPr>
              <a:t>Feedback learning: экспертные оценки обучают ML-реранкер для следующих запусков.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2" name="TextBox 11"/>
          <p:cNvSpPr/>
          <p:nvPr/>
        </p:nvSpPr>
        <p:spPr>
          <a:xfrm>
            <a:off x="868680" y="4325040"/>
            <a:ext cx="22824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ff525c"/>
                </a:solidFill>
                <a:latin typeface="Arial"/>
              </a:rPr>
              <a:t>•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3" name="TextBox 12"/>
          <p:cNvSpPr/>
          <p:nvPr/>
        </p:nvSpPr>
        <p:spPr>
          <a:xfrm>
            <a:off x="1216080" y="4306680"/>
            <a:ext cx="102409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rgbClr val="f5f7fa"/>
                </a:solidFill>
                <a:latin typeface="Arial"/>
              </a:rPr>
              <a:t>Long-context пакет передается в YandexGPT как экспертный слой, не заменяя базовый scoring.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4" name="TextBox 13"/>
          <p:cNvSpPr/>
          <p:nvPr/>
        </p:nvSpPr>
        <p:spPr>
          <a:xfrm>
            <a:off x="594360" y="6446520"/>
            <a:ext cx="77720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aab2c4"/>
                </a:solidFill>
                <a:latin typeface="Arial"/>
              </a:rPr>
              <a:t>Hypothesis Factory · GraphRAG + LLM + calculators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5" name="TextBox 14"/>
          <p:cNvSpPr/>
          <p:nvPr/>
        </p:nvSpPr>
        <p:spPr>
          <a:xfrm>
            <a:off x="9189720" y="6446520"/>
            <a:ext cx="23770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aab2c4"/>
                </a:solidFill>
                <a:latin typeface="Arial"/>
              </a:rPr>
              <a:t>https://hackaton.baxic.ru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e12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TextBox 1"/>
          <p:cNvSpPr/>
          <p:nvPr/>
        </p:nvSpPr>
        <p:spPr>
          <a:xfrm>
            <a:off x="594360" y="411480"/>
            <a:ext cx="1097244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000" spc="-1" strike="noStrike">
                <a:solidFill>
                  <a:srgbClr val="f5f7fa"/>
                </a:solidFill>
                <a:latin typeface="Arial"/>
              </a:rPr>
              <a:t>Интеграции и развертывание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7" name="TextBox 2"/>
          <p:cNvSpPr/>
          <p:nvPr/>
        </p:nvSpPr>
        <p:spPr>
          <a:xfrm>
            <a:off x="621720" y="932760"/>
            <a:ext cx="107895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500" spc="-1" strike="noStrike">
                <a:solidFill>
                  <a:srgbClr val="aab2c4"/>
                </a:solidFill>
                <a:latin typeface="Arial"/>
              </a:rPr>
              <a:t>Решение готово к встраиванию в исследовательский процесс.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8" name="TextBox 3"/>
          <p:cNvSpPr/>
          <p:nvPr/>
        </p:nvSpPr>
        <p:spPr>
          <a:xfrm>
            <a:off x="868680" y="1691640"/>
            <a:ext cx="22824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ff525c"/>
                </a:solidFill>
                <a:latin typeface="Arial"/>
              </a:rPr>
              <a:t>•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9" name="TextBox 4"/>
          <p:cNvSpPr/>
          <p:nvPr/>
        </p:nvSpPr>
        <p:spPr>
          <a:xfrm>
            <a:off x="1216080" y="1673280"/>
            <a:ext cx="102409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rgbClr val="f5f7fa"/>
                </a:solidFill>
                <a:latin typeface="Arial"/>
              </a:rPr>
              <a:t>Публичный UI: https://hackaton.baxic.ru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0" name="TextBox 5"/>
          <p:cNvSpPr/>
          <p:nvPr/>
        </p:nvSpPr>
        <p:spPr>
          <a:xfrm>
            <a:off x="868680" y="2350080"/>
            <a:ext cx="22824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ff525c"/>
                </a:solidFill>
                <a:latin typeface="Arial"/>
              </a:rPr>
              <a:t>•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1" name="TextBox 6"/>
          <p:cNvSpPr/>
          <p:nvPr/>
        </p:nvSpPr>
        <p:spPr>
          <a:xfrm>
            <a:off x="1216080" y="2331720"/>
            <a:ext cx="102409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rgbClr val="f5f7fa"/>
                </a:solidFill>
                <a:latin typeface="Arial"/>
              </a:rPr>
              <a:t>API + Swagger: https://hypothesisapi.baxic.ru/docs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2" name="TextBox 7"/>
          <p:cNvSpPr/>
          <p:nvPr/>
        </p:nvSpPr>
        <p:spPr>
          <a:xfrm>
            <a:off x="868680" y="3008520"/>
            <a:ext cx="22824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ff525c"/>
                </a:solidFill>
                <a:latin typeface="Arial"/>
              </a:rPr>
              <a:t>•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3" name="TextBox 8"/>
          <p:cNvSpPr/>
          <p:nvPr/>
        </p:nvSpPr>
        <p:spPr>
          <a:xfrm>
            <a:off x="1216080" y="2990160"/>
            <a:ext cx="102409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rgbClr val="f5f7fa"/>
                </a:solidFill>
                <a:latin typeface="Arial"/>
              </a:rPr>
              <a:t>Docker Compose: Streamlit, FastAPI, Neo4j.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4" name="TextBox 9"/>
          <p:cNvSpPr/>
          <p:nvPr/>
        </p:nvSpPr>
        <p:spPr>
          <a:xfrm>
            <a:off x="868680" y="3666600"/>
            <a:ext cx="22824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ff525c"/>
                </a:solidFill>
                <a:latin typeface="Arial"/>
              </a:rPr>
              <a:t>•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5" name="TextBox 10"/>
          <p:cNvSpPr/>
          <p:nvPr/>
        </p:nvSpPr>
        <p:spPr>
          <a:xfrm>
            <a:off x="1216080" y="3648600"/>
            <a:ext cx="102409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rgbClr val="f5f7fa"/>
                </a:solidFill>
                <a:latin typeface="Arial"/>
              </a:rPr>
              <a:t>Graph storage: JSON, GraphML, RDF/Turtle, Neo4j sync/query.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6" name="TextBox 11"/>
          <p:cNvSpPr/>
          <p:nvPr/>
        </p:nvSpPr>
        <p:spPr>
          <a:xfrm>
            <a:off x="868680" y="4325040"/>
            <a:ext cx="22824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ff525c"/>
                </a:solidFill>
                <a:latin typeface="Arial"/>
              </a:rPr>
              <a:t>•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7" name="TextBox 12"/>
          <p:cNvSpPr/>
          <p:nvPr/>
        </p:nvSpPr>
        <p:spPr>
          <a:xfrm>
            <a:off x="1216080" y="4306680"/>
            <a:ext cx="102409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rgbClr val="f5f7fa"/>
                </a:solidFill>
                <a:latin typeface="Arial"/>
              </a:rPr>
              <a:t>Jira/YouTrack: создание задач из гипотез; role-based token auth для UI/API.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" name="TextBox 13"/>
          <p:cNvSpPr/>
          <p:nvPr/>
        </p:nvSpPr>
        <p:spPr>
          <a:xfrm>
            <a:off x="594360" y="6446520"/>
            <a:ext cx="77720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aab2c4"/>
                </a:solidFill>
                <a:latin typeface="Arial"/>
              </a:rPr>
              <a:t>Hypothesis Factory · GraphRAG + LLM + calculators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9" name="TextBox 14"/>
          <p:cNvSpPr/>
          <p:nvPr/>
        </p:nvSpPr>
        <p:spPr>
          <a:xfrm>
            <a:off x="9189720" y="6446520"/>
            <a:ext cx="23770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aab2c4"/>
                </a:solidFill>
                <a:latin typeface="Arial"/>
              </a:rPr>
              <a:t>https://hackaton.baxic.ru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e12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TextBox 1"/>
          <p:cNvSpPr/>
          <p:nvPr/>
        </p:nvSpPr>
        <p:spPr>
          <a:xfrm>
            <a:off x="594360" y="411480"/>
            <a:ext cx="1097244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000" spc="-1" strike="noStrike">
                <a:solidFill>
                  <a:srgbClr val="f5f7fa"/>
                </a:solidFill>
                <a:latin typeface="Arial"/>
              </a:rPr>
              <a:t>Покрытие требований кейса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1" name="TextBox 2"/>
          <p:cNvSpPr/>
          <p:nvPr/>
        </p:nvSpPr>
        <p:spPr>
          <a:xfrm>
            <a:off x="621720" y="932760"/>
            <a:ext cx="107895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500" spc="-1" strike="noStrike">
                <a:solidFill>
                  <a:srgbClr val="aab2c4"/>
                </a:solidFill>
                <a:latin typeface="Arial"/>
              </a:rPr>
              <a:t>Ключевые требования закрыты на уровне хакатонного MVP.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" name="Rectangle 3"/>
          <p:cNvSpPr/>
          <p:nvPr/>
        </p:nvSpPr>
        <p:spPr>
          <a:xfrm>
            <a:off x="868680" y="1691640"/>
            <a:ext cx="4800240" cy="914040"/>
          </a:xfrm>
          <a:prstGeom prst="rect">
            <a:avLst/>
          </a:prstGeom>
          <a:solidFill>
            <a:srgbClr val="191f2d"/>
          </a:solidFill>
          <a:ln>
            <a:solidFill>
              <a:srgbClr val="3ddc9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3" name="TextBox 4"/>
          <p:cNvSpPr/>
          <p:nvPr/>
        </p:nvSpPr>
        <p:spPr>
          <a:xfrm>
            <a:off x="978480" y="1837800"/>
            <a:ext cx="458064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3ddc97"/>
                </a:solidFill>
                <a:latin typeface="Arial"/>
              </a:rPr>
              <a:t>Полезность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4" name="TextBox 5"/>
          <p:cNvSpPr/>
          <p:nvPr/>
        </p:nvSpPr>
        <p:spPr>
          <a:xfrm>
            <a:off x="978480" y="2194560"/>
            <a:ext cx="45806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ab2c4"/>
                </a:solidFill>
                <a:latin typeface="Arial"/>
              </a:rPr>
              <a:t>проверяемые гипотезы + план эксперимента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5" name="Rectangle 6"/>
          <p:cNvSpPr/>
          <p:nvPr/>
        </p:nvSpPr>
        <p:spPr>
          <a:xfrm>
            <a:off x="6355080" y="1691640"/>
            <a:ext cx="4800240" cy="914040"/>
          </a:xfrm>
          <a:prstGeom prst="rect">
            <a:avLst/>
          </a:prstGeom>
          <a:solidFill>
            <a:srgbClr val="191f2d"/>
          </a:solidFill>
          <a:ln>
            <a:solidFill>
              <a:srgbClr val="3ddc9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6" name="TextBox 7"/>
          <p:cNvSpPr/>
          <p:nvPr/>
        </p:nvSpPr>
        <p:spPr>
          <a:xfrm>
            <a:off x="6464880" y="1837800"/>
            <a:ext cx="458064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3ddc97"/>
                </a:solidFill>
                <a:latin typeface="Arial"/>
              </a:rPr>
              <a:t>Прозрачность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7" name="TextBox 8"/>
          <p:cNvSpPr/>
          <p:nvPr/>
        </p:nvSpPr>
        <p:spPr>
          <a:xfrm>
            <a:off x="6464880" y="2194560"/>
            <a:ext cx="45806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ab2c4"/>
                </a:solidFill>
                <a:latin typeface="Arial"/>
              </a:rPr>
              <a:t>источники + GraphRAG + расчеты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8" name="Rectangle 9"/>
          <p:cNvSpPr/>
          <p:nvPr/>
        </p:nvSpPr>
        <p:spPr>
          <a:xfrm>
            <a:off x="868680" y="3017520"/>
            <a:ext cx="4800240" cy="914040"/>
          </a:xfrm>
          <a:prstGeom prst="rect">
            <a:avLst/>
          </a:prstGeom>
          <a:solidFill>
            <a:srgbClr val="191f2d"/>
          </a:solidFill>
          <a:ln>
            <a:solidFill>
              <a:srgbClr val="3ddc9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9" name="TextBox 10"/>
          <p:cNvSpPr/>
          <p:nvPr/>
        </p:nvSpPr>
        <p:spPr>
          <a:xfrm>
            <a:off x="978480" y="3163680"/>
            <a:ext cx="458064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3ddc97"/>
                </a:solidFill>
                <a:latin typeface="Arial"/>
              </a:rPr>
              <a:t>Гибкость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0" name="TextBox 11"/>
          <p:cNvSpPr/>
          <p:nvPr/>
        </p:nvSpPr>
        <p:spPr>
          <a:xfrm>
            <a:off x="978480" y="3520440"/>
            <a:ext cx="45806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ab2c4"/>
                </a:solidFill>
                <a:latin typeface="Arial"/>
              </a:rPr>
              <a:t>разные форматы + OCR + metadata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1" name="Rectangle 12"/>
          <p:cNvSpPr/>
          <p:nvPr/>
        </p:nvSpPr>
        <p:spPr>
          <a:xfrm>
            <a:off x="6355080" y="3017520"/>
            <a:ext cx="4800240" cy="914040"/>
          </a:xfrm>
          <a:prstGeom prst="rect">
            <a:avLst/>
          </a:prstGeom>
          <a:solidFill>
            <a:srgbClr val="191f2d"/>
          </a:solidFill>
          <a:ln>
            <a:solidFill>
              <a:srgbClr val="3ddc9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2" name="TextBox 13"/>
          <p:cNvSpPr/>
          <p:nvPr/>
        </p:nvSpPr>
        <p:spPr>
          <a:xfrm>
            <a:off x="6464880" y="3163680"/>
            <a:ext cx="458064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3ddc97"/>
                </a:solidFill>
                <a:latin typeface="Arial"/>
              </a:rPr>
              <a:t>Масштабируемость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3" name="TextBox 14"/>
          <p:cNvSpPr/>
          <p:nvPr/>
        </p:nvSpPr>
        <p:spPr>
          <a:xfrm>
            <a:off x="6464880" y="3520440"/>
            <a:ext cx="45806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ab2c4"/>
                </a:solidFill>
                <a:latin typeface="Arial"/>
              </a:rPr>
              <a:t>модули + Neo4j/RDF/GraphML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4" name="Rectangle 15"/>
          <p:cNvSpPr/>
          <p:nvPr/>
        </p:nvSpPr>
        <p:spPr>
          <a:xfrm>
            <a:off x="868680" y="4343400"/>
            <a:ext cx="4800240" cy="914040"/>
          </a:xfrm>
          <a:prstGeom prst="rect">
            <a:avLst/>
          </a:prstGeom>
          <a:solidFill>
            <a:srgbClr val="191f2d"/>
          </a:solidFill>
          <a:ln>
            <a:solidFill>
              <a:srgbClr val="3ddc9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5" name="TextBox 16"/>
          <p:cNvSpPr/>
          <p:nvPr/>
        </p:nvSpPr>
        <p:spPr>
          <a:xfrm>
            <a:off x="978480" y="4489560"/>
            <a:ext cx="458064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3ddc97"/>
                </a:solidFill>
                <a:latin typeface="Arial"/>
              </a:rPr>
              <a:t>Интеграция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6" name="TextBox 17"/>
          <p:cNvSpPr/>
          <p:nvPr/>
        </p:nvSpPr>
        <p:spPr>
          <a:xfrm>
            <a:off x="978480" y="4846320"/>
            <a:ext cx="45806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ab2c4"/>
                </a:solidFill>
                <a:latin typeface="Arial"/>
              </a:rPr>
              <a:t>PDF/DOCX/API/Jira/YouTrack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7" name="Rectangle 18"/>
          <p:cNvSpPr/>
          <p:nvPr/>
        </p:nvSpPr>
        <p:spPr>
          <a:xfrm>
            <a:off x="6355080" y="4343400"/>
            <a:ext cx="4800240" cy="914040"/>
          </a:xfrm>
          <a:prstGeom prst="rect">
            <a:avLst/>
          </a:prstGeom>
          <a:solidFill>
            <a:srgbClr val="191f2d"/>
          </a:solidFill>
          <a:ln>
            <a:solidFill>
              <a:srgbClr val="3ddc9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8" name="TextBox 19"/>
          <p:cNvSpPr/>
          <p:nvPr/>
        </p:nvSpPr>
        <p:spPr>
          <a:xfrm>
            <a:off x="6464880" y="4489560"/>
            <a:ext cx="458064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3ddc97"/>
                </a:solidFill>
                <a:latin typeface="Arial"/>
              </a:rPr>
              <a:t>Безопасность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9" name="TextBox 20"/>
          <p:cNvSpPr/>
          <p:nvPr/>
        </p:nvSpPr>
        <p:spPr>
          <a:xfrm>
            <a:off x="6464880" y="4846320"/>
            <a:ext cx="45806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ab2c4"/>
                </a:solidFill>
                <a:latin typeface="Arial"/>
              </a:rPr>
              <a:t>Docker + tokens + роли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0" name="TextBox 21"/>
          <p:cNvSpPr/>
          <p:nvPr/>
        </p:nvSpPr>
        <p:spPr>
          <a:xfrm>
            <a:off x="594360" y="6446520"/>
            <a:ext cx="77720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aab2c4"/>
                </a:solidFill>
                <a:latin typeface="Arial"/>
              </a:rPr>
              <a:t>Hypothesis Factory · GraphRAG + LLM + calculators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1" name="TextBox 22"/>
          <p:cNvSpPr/>
          <p:nvPr/>
        </p:nvSpPr>
        <p:spPr>
          <a:xfrm>
            <a:off x="9189720" y="6446520"/>
            <a:ext cx="23770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aab2c4"/>
                </a:solidFill>
                <a:latin typeface="Arial"/>
              </a:rPr>
              <a:t>https://hackaton.baxic.ru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e12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TextBox 1"/>
          <p:cNvSpPr/>
          <p:nvPr/>
        </p:nvSpPr>
        <p:spPr>
          <a:xfrm>
            <a:off x="594360" y="411480"/>
            <a:ext cx="1097244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000" spc="-1" strike="noStrike">
                <a:solidFill>
                  <a:srgbClr val="f5f7fa"/>
                </a:solidFill>
                <a:latin typeface="Arial"/>
              </a:rPr>
              <a:t>Демо за 5 минут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3" name="TextBox 2"/>
          <p:cNvSpPr/>
          <p:nvPr/>
        </p:nvSpPr>
        <p:spPr>
          <a:xfrm>
            <a:off x="621720" y="932760"/>
            <a:ext cx="107895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500" spc="-1" strike="noStrike">
                <a:solidFill>
                  <a:srgbClr val="aab2c4"/>
                </a:solidFill>
                <a:latin typeface="Arial"/>
              </a:rPr>
              <a:t>Рекомендуемый сценарий показа жюри.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4" name="TextBox 3"/>
          <p:cNvSpPr/>
          <p:nvPr/>
        </p:nvSpPr>
        <p:spPr>
          <a:xfrm>
            <a:off x="868680" y="1691640"/>
            <a:ext cx="22824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ff525c"/>
                </a:solidFill>
                <a:latin typeface="Arial"/>
              </a:rPr>
              <a:t>•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5" name="TextBox 4"/>
          <p:cNvSpPr/>
          <p:nvPr/>
        </p:nvSpPr>
        <p:spPr>
          <a:xfrm>
            <a:off x="1216080" y="1673280"/>
            <a:ext cx="102409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rgbClr val="f5f7fa"/>
                </a:solidFill>
                <a:latin typeface="Arial"/>
              </a:rPr>
              <a:t>Открыть UI, войти по demo-token и загрузить документы/таблицы/изображения.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6" name="TextBox 5"/>
          <p:cNvSpPr/>
          <p:nvPr/>
        </p:nvSpPr>
        <p:spPr>
          <a:xfrm>
            <a:off x="868680" y="2350080"/>
            <a:ext cx="22824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ff525c"/>
                </a:solidFill>
                <a:latin typeface="Arial"/>
              </a:rPr>
              <a:t>•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7" name="TextBox 6"/>
          <p:cNvSpPr/>
          <p:nvPr/>
        </p:nvSpPr>
        <p:spPr>
          <a:xfrm>
            <a:off x="1216080" y="2331720"/>
            <a:ext cx="102409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rgbClr val="f5f7fa"/>
                </a:solidFill>
                <a:latin typeface="Arial"/>
              </a:rPr>
              <a:t>Запустить генерацию и показать трассировку агентов.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" name="TextBox 7"/>
          <p:cNvSpPr/>
          <p:nvPr/>
        </p:nvSpPr>
        <p:spPr>
          <a:xfrm>
            <a:off x="868680" y="3008520"/>
            <a:ext cx="22824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ff525c"/>
                </a:solidFill>
                <a:latin typeface="Arial"/>
              </a:rPr>
              <a:t>•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9" name="TextBox 8"/>
          <p:cNvSpPr/>
          <p:nvPr/>
        </p:nvSpPr>
        <p:spPr>
          <a:xfrm>
            <a:off x="1216080" y="2990160"/>
            <a:ext cx="102409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rgbClr val="f5f7fa"/>
                </a:solidFill>
                <a:latin typeface="Arial"/>
              </a:rPr>
              <a:t>Открыть карточку топ-гипотезы: механизм, источники, расчеты, counterfactual, план проверки.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0" name="TextBox 9"/>
          <p:cNvSpPr/>
          <p:nvPr/>
        </p:nvSpPr>
        <p:spPr>
          <a:xfrm>
            <a:off x="868680" y="3666600"/>
            <a:ext cx="22824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ff525c"/>
                </a:solidFill>
                <a:latin typeface="Arial"/>
              </a:rPr>
              <a:t>•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1" name="TextBox 10"/>
          <p:cNvSpPr/>
          <p:nvPr/>
        </p:nvSpPr>
        <p:spPr>
          <a:xfrm>
            <a:off x="1216080" y="3648600"/>
            <a:ext cx="102409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rgbClr val="f5f7fa"/>
                </a:solidFill>
                <a:latin typeface="Arial"/>
              </a:rPr>
              <a:t>Показать граф связей, экспорт PDF/DOCX/JSON и сохранение feedback.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" name="TextBox 11"/>
          <p:cNvSpPr/>
          <p:nvPr/>
        </p:nvSpPr>
        <p:spPr>
          <a:xfrm>
            <a:off x="868680" y="4325040"/>
            <a:ext cx="22824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ff525c"/>
                </a:solidFill>
                <a:latin typeface="Arial"/>
              </a:rPr>
              <a:t>•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3" name="TextBox 12"/>
          <p:cNvSpPr/>
          <p:nvPr/>
        </p:nvSpPr>
        <p:spPr>
          <a:xfrm>
            <a:off x="1216080" y="4306680"/>
            <a:ext cx="102409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rgbClr val="f5f7fa"/>
                </a:solidFill>
                <a:latin typeface="Arial"/>
              </a:rPr>
              <a:t>Открыть Swagger API, выполнить POST /api/generate с X-API-Key.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4" name="TextBox 13"/>
          <p:cNvSpPr/>
          <p:nvPr/>
        </p:nvSpPr>
        <p:spPr>
          <a:xfrm>
            <a:off x="594360" y="6446520"/>
            <a:ext cx="77720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aab2c4"/>
                </a:solidFill>
                <a:latin typeface="Arial"/>
              </a:rPr>
              <a:t>Hypothesis Factory · GraphRAG + LLM + calculators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5" name="TextBox 14"/>
          <p:cNvSpPr/>
          <p:nvPr/>
        </p:nvSpPr>
        <p:spPr>
          <a:xfrm>
            <a:off x="9189720" y="6446520"/>
            <a:ext cx="23770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aab2c4"/>
                </a:solidFill>
                <a:latin typeface="Arial"/>
              </a:rPr>
              <a:t>https://hackaton.baxic.ru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e12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TextBox 1"/>
          <p:cNvSpPr/>
          <p:nvPr/>
        </p:nvSpPr>
        <p:spPr>
          <a:xfrm>
            <a:off x="594360" y="411480"/>
            <a:ext cx="1097244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000" spc="-1" strike="noStrike">
                <a:solidFill>
                  <a:srgbClr val="f5f7fa"/>
                </a:solidFill>
                <a:latin typeface="Arial"/>
              </a:rPr>
              <a:t>Почему это сильное решение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7" name="TextBox 2"/>
          <p:cNvSpPr/>
          <p:nvPr/>
        </p:nvSpPr>
        <p:spPr>
          <a:xfrm>
            <a:off x="621720" y="932760"/>
            <a:ext cx="107895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500" spc="-1" strike="noStrike">
                <a:solidFill>
                  <a:srgbClr val="aab2c4"/>
                </a:solidFill>
                <a:latin typeface="Arial"/>
              </a:rPr>
              <a:t>Формулировка для защиты.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8" name="TextBox 3"/>
          <p:cNvSpPr/>
          <p:nvPr/>
        </p:nvSpPr>
        <p:spPr>
          <a:xfrm>
            <a:off x="868680" y="1691640"/>
            <a:ext cx="22824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ff525c"/>
                </a:solidFill>
                <a:latin typeface="Arial"/>
              </a:rPr>
              <a:t>•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9" name="TextBox 4"/>
          <p:cNvSpPr/>
          <p:nvPr/>
        </p:nvSpPr>
        <p:spPr>
          <a:xfrm>
            <a:off x="1216080" y="1673280"/>
            <a:ext cx="102409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rgbClr val="f5f7fa"/>
                </a:solidFill>
                <a:latin typeface="Arial"/>
              </a:rPr>
              <a:t>Это не RAG-чат, а end-to-end research workflow.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0" name="TextBox 5"/>
          <p:cNvSpPr/>
          <p:nvPr/>
        </p:nvSpPr>
        <p:spPr>
          <a:xfrm>
            <a:off x="868680" y="2350080"/>
            <a:ext cx="22824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ff525c"/>
                </a:solidFill>
                <a:latin typeface="Arial"/>
              </a:rPr>
              <a:t>•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1" name="TextBox 6"/>
          <p:cNvSpPr/>
          <p:nvPr/>
        </p:nvSpPr>
        <p:spPr>
          <a:xfrm>
            <a:off x="1216080" y="2331720"/>
            <a:ext cx="102409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rgbClr val="f5f7fa"/>
                </a:solidFill>
                <a:latin typeface="Arial"/>
              </a:rPr>
              <a:t>Покрывает путь: данные -&gt; GraphRAG -&gt; гипотезы -&gt; проверки -&gt; feedback -&gt; отчеты/API/tasks.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2" name="TextBox 7"/>
          <p:cNvSpPr/>
          <p:nvPr/>
        </p:nvSpPr>
        <p:spPr>
          <a:xfrm>
            <a:off x="868680" y="3008520"/>
            <a:ext cx="22824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ff525c"/>
                </a:solidFill>
                <a:latin typeface="Arial"/>
              </a:rPr>
              <a:t>•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3" name="TextBox 8"/>
          <p:cNvSpPr/>
          <p:nvPr/>
        </p:nvSpPr>
        <p:spPr>
          <a:xfrm>
            <a:off x="1216080" y="2990160"/>
            <a:ext cx="102409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rgbClr val="f5f7fa"/>
                </a:solidFill>
                <a:latin typeface="Arial"/>
              </a:rPr>
              <a:t>Работает локально и безопасно для конфиденциальных данных.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4" name="TextBox 9"/>
          <p:cNvSpPr/>
          <p:nvPr/>
        </p:nvSpPr>
        <p:spPr>
          <a:xfrm>
            <a:off x="868680" y="3666600"/>
            <a:ext cx="22824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ff525c"/>
                </a:solidFill>
                <a:latin typeface="Arial"/>
              </a:rPr>
              <a:t>•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5" name="TextBox 10"/>
          <p:cNvSpPr/>
          <p:nvPr/>
        </p:nvSpPr>
        <p:spPr>
          <a:xfrm>
            <a:off x="1216080" y="3648600"/>
            <a:ext cx="102409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rgbClr val="f5f7fa"/>
                </a:solidFill>
                <a:latin typeface="Arial"/>
              </a:rPr>
              <a:t>Модульная архитектура расширяется на новые предметные области.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6" name="TextBox 11"/>
          <p:cNvSpPr/>
          <p:nvPr/>
        </p:nvSpPr>
        <p:spPr>
          <a:xfrm>
            <a:off x="868680" y="4325040"/>
            <a:ext cx="22824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ff525c"/>
                </a:solidFill>
                <a:latin typeface="Arial"/>
              </a:rPr>
              <a:t>•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7" name="TextBox 12"/>
          <p:cNvSpPr/>
          <p:nvPr/>
        </p:nvSpPr>
        <p:spPr>
          <a:xfrm>
            <a:off x="1216080" y="4306680"/>
            <a:ext cx="102409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rgbClr val="f5f7fa"/>
                </a:solidFill>
                <a:latin typeface="Arial"/>
              </a:rPr>
              <a:t>Готово для MVP-использования и промышленного развития.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8" name="Rectangle 13"/>
          <p:cNvSpPr/>
          <p:nvPr/>
        </p:nvSpPr>
        <p:spPr>
          <a:xfrm>
            <a:off x="868680" y="5486400"/>
            <a:ext cx="10469520" cy="793800"/>
          </a:xfrm>
          <a:prstGeom prst="rect">
            <a:avLst/>
          </a:prstGeom>
          <a:solidFill>
            <a:srgbClr val="191f2d"/>
          </a:solidFill>
          <a:ln>
            <a:solidFill>
              <a:srgbClr val="3ddc9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9" name="TextBox 14"/>
          <p:cNvSpPr/>
          <p:nvPr/>
        </p:nvSpPr>
        <p:spPr>
          <a:xfrm>
            <a:off x="1097280" y="5641920"/>
            <a:ext cx="100123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3ddc97"/>
                </a:solidFill>
                <a:latin typeface="Arial"/>
              </a:rPr>
              <a:t>GraphRAG + Long-Context LLM + Counterfactual + Predictive KPI + Novelty + Feedback Learning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0" name="TextBox 15"/>
          <p:cNvSpPr/>
          <p:nvPr/>
        </p:nvSpPr>
        <p:spPr>
          <a:xfrm>
            <a:off x="594360" y="6446520"/>
            <a:ext cx="77720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aab2c4"/>
                </a:solidFill>
                <a:latin typeface="Arial"/>
              </a:rPr>
              <a:t>Hypothesis Factory · GraphRAG + LLM + calculators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1" name="TextBox 16"/>
          <p:cNvSpPr/>
          <p:nvPr/>
        </p:nvSpPr>
        <p:spPr>
          <a:xfrm>
            <a:off x="9189720" y="6446520"/>
            <a:ext cx="23770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aab2c4"/>
                </a:solidFill>
                <a:latin typeface="Arial"/>
              </a:rPr>
              <a:t>https://hackaton.baxic.ru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</TotalTime>
  <Application>LibreOffice/24.2.4.2$Windows_X86_64 LibreOffice_project/51a6219feb6075d9a4c46691dcfe0cd9c4fff3c2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2026-07-04T04:15:35Z</dcterms:modified>
  <cp:revision>4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